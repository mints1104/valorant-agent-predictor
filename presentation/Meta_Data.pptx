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Hi, I'm Harun, and this is my project, Meta Data. "Meta" is gamers' word for what the best
players are playing right now: the most optimal line-up or tactic. This project is based on
VALORANT, which I'll explain in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For anyone who hasn't played, VALORANT is a 5v5 tactical shooter. Each player picks an agent, a
character with its own abilities. No two teammates can pick the same one, though the other team
can. A team's five agents are its line-up, like this one on Lotus, the map in the background.
Seven maps are in play at a time, and that set changes over the years. A pro match is usually
best of three: each team chooses a map, and the third is the one left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So, why did I build this? Players are always trying to find the best line-up. I played VALORANT
competitively for about four years and got to one of the highest ranks, and I still follow the
pro tour. There are loads of stats sites that show past pick rates and win rates, but none of them
test which agents actually work best together. It's for players picking a line-up: whether you're
queuing with four friends, or playing solo and the other four have already locked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So, the project sets out to answer three questions. One: what would the pros pick? You give it a
map and up to four agents, and it suggests the next one. Two: do agent picks predict who wins,
using only what's known before the game? And three: do some line-ups do better than their agents
would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~3s. So, how does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I'll focus on how the recommender works. I collected 2,376 pro games over two seasons. A game
here is one map, so that's from about 930 pro matches. Then I cleaned the data. Some errors didn't
show up as errors: one team was filed under a different name in one file, so I matched teams by
their IDs instead.
To train it, I take real pro line-ups, hide one agent, and the model learns which agent completes
the line-up. It uses gradient boosting, a standard machine-learning method, to learn which agents
go together on each map. It's tested week by week: each week, it only learns from the games
before that week, and it's scored on games it hasn't seen. And it's all accessed through a
Streamlit app with three pages, which I'll demo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Here's an example, on Icebox. Four agents are already locked in: Viper, Sova, Killjoy and Jett,
so it's the solo scenario, and I need to pick the fifth. The model gives its top three: Sage,
Harbor and Omen, with Sage at 48%. That's how strongly it favours each one, not a chance of
winning. To score it, I hide one agent from a real pro line-up and check if it comes back in the
top three. And the bar to beat isn't random guessing. It's a simple rule: pick whatever pros have
played most on that map lately.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And the result: on the rest of 2025, the agent the pros actually picked was in its top three
91.3% of the time. On 2026, a new season, it was 87.4%. But the simple "most played lately" rule
already gets 77% and 72%, so the real result is the lead: about 14 to 15 points, and it held on a
new season. 2026 is a bit lower because of new agents and map changes. When something new comes
in, it learns it, but it struggles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~3s. Now I'll move on to the live demo. Give me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 [10 seconds on the slide] There are three pages: the recommender, how the meta moved, and a win
predictor. [switch to the app; if it won't start, talk through this slide's three pictures]
Agent recommender (about 1:45). [click "Lotus, nothing locked"] First, Lotus with no agents
selected. With nothing locked in, it shows the most common line-ups on Lotus lately: here, Fade,
Omen, Raze, Viper and Vyse, how many times it's been played, its record, and which teams played
it most. And individually, Omen's in 98% of line-ups, Fade 90, Raze 73. So pros almost always run
those three. I've played this map a lot, I usually play Raze, and I can tell you that's accurate.
[click "Icebox with Viper, Sova, Killjoy, Jett"] Now the example from the slides: Icebox with
Viper, Sova, Killjoy and Jett. Because we've given it four, it suggests the fifth: Sage at 48%,
Harbor 28, Omen 13.
[scroll to "Why this pick"] And here's why. Of the pro line-ups on Icebox in the last 180 days
with those four agents, 31 also ran Sage. [scroll to the record] That exact line-up was played 50
times across 2024 and 2025, with a 29–21 record. [point at "Played most by" and the yellow box]
But look who played it. This is question three: I checked whether any line-up wins more than its
agents deserve, and there was no sign of it. The standouts were just strong teams, which is why
every record has this warning.
How the meta moved (about 30s). [open the page] This page is why I give more weight to recent
games. Take Neon. [all maps] You can see when Neon came in, a gradual rise, then a huge spike. That
was likely a patch that made Neon stronger, or weakened another agent, or a map rotation that
suited Neon. So recent games are what the game actually looks like now.
Win predictor (about 1:20). [open the page] This page is question two: do the agents a team
picks tell you who'll win? You pick two teams and a map, and it gives each team a chance. Here,
NRG against 100 Thieves: 57% to NRG.
That number comes from a model that only looks at the players: how well each team's five players
have been playing lately. [scroll to "Now change the agents"] Down here there's a second model that
only looks at the agents each team picked, and nothing about the players.
[in NRG's line-up, remove Omen and add Sage] Watch what happens when I change one agent. The agent
model jumps from 34% to 54%, from a single pick. The player model stays at 57%, because it doesn't
look at agents at all.
So which one do you trust? I tested both on games they'd never seen. [point at the line under the
two boxes] The agent model was right 50.8% of the time, basically a coin flip, and no better than
just guessing whoever picked the map wins. The player model did a bit better, 54.5%, but pro games
are close, so nothing predicts them well. The agent model reacts a lot, but its swings don't mean
anything: from what I found, the agents a team picks don't tell you who'll win.
[back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~3s. So, what have I learnt from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First, split by time, not at random. Because the meta keeps changing, a random split would let
the model learn from future games, so it learns from earlier weeks and is tested on later ones.
Second, simple rules can be really hard to beat: "what pros played lately" already gets 77%.
Third, predicting who wins a match is far harder than I thought. My best win model got 54.5%,
against 52.9% for just saying whoever picked the map wins. And fourth, years of data can shrink to
months. I thought I had years of data, but once you weight games by how recent they are, a
year-old game counts for under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And what would I improve? The limits first. It shows what pros pick, not what wins; my guess is
pro teams mostly pick strong agents they're comfortable with, so the picks don't separate them.
It's weaker with fewer agents locked in, and at first on brand-new maps and agents.
Next, I'd keep it updated with new pro games, because new agents and patches keep changing what's
strong. I'd test it on ranked games, to compare everyday players with pros. And an LLM in the app
that suggests tactics: give it a map and five agents, and it tells you where each player should go
and how to use their 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So, to conclude: with four agents locked in, the pros' pick is in its top three nearly nine times
in ten, even on a new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 That's all. Thank you very much for listening, and I'm happy to take any questions.
IF YOU'RE ASKED
- "Isn't 91% suspiciously high?" It predicts picks, not wins, and pros are predictable: the
  simple rule already gets 77%. The number that matters is the 14-point lead, and it held at 15
  on 2026.
- "Why is Sage above Harbor when more line-ups ran Harbor?" The counts on that page treat
  the last 180 days equally. The model counts recent games more: a game 45 days old counts half.
- "Should a team just follow its suggestions?" No. It tells you what pros play, not what wins.
- "How do you know you didn't tune it on the test?" Each test plan was saved in git, with a
  timestamp, before it ran, and each test was run once. Nothing changed after seeing a result.
- "Why gradient boosting?" I compared five methods in development. The best two were level,
  and a rule I'd set in advance picked gradient boosting. The tests are what count.
- "How does it learn to complete a line-up?" Every real line-up is used with each agent
  hidden in turn, against every smaller set of the other four, so it also learns what to suggest
  with fewer agents locked in.
- "How sure are you agents don't predict the winner?" The agent model was worse than saying
  50/50 on every game in development, and no better on unseen games (log loss 0.760 and 0.704,
  where 50/50 scores 0.693; lower is better).
- "What does predict the winner?" Player form, how well the ten players have been playing:
  nearly six points ahead in development, 1.6 on the test, with a range from −3.2 to +6.4. So it
  isn't proven.
- "Could synergy be there and you missed it?" Yes. Spotting a five-point edge needs about 784
  games of one line-up, and the most-used had 86.
- "So agents don't matter?" Probably not that. Opposing teams share about three of their five
  agents on a typical map, so the picks rarely separate them. That's my reading; I didn't test it.
- "What was wrong with the data?" Three errors that don't show up as errors: every performance
  counted several times over, NRG filed as "Mega Minors" in one file, and a player-stats file that
  already contained the game being predicted.
- "Why only two seasons?" The game keeps changing, so a year-old game counts under 1% anyway.
  2021 to 2023 also have no dates, but those could have been scraped from vlr.gg like 2026's.
- "How weak is it on new things?" A brand-new map scored 80% against 93% elsewhere, and new
  agents 43%, from only 77 questions.
- "How would you check the LLM's tactics?" I couldn't yet: my data has no round-by-round play.
  It would need round-level data, or pro players rating its suggestions.
- "Why isn't the app retrained on 2026?" I held it back to keep the demo stable, and Icebox,
  the demo map, left the pool in 2026.
- "Other projects report over 90% for predicting winners." Those use stats from the game
  itself, like kills and damage, which you only know once it's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325880"/>
            <a:ext cx="9144000" cy="320040"/>
          </a:xfrm>
          <a:prstGeom prst="rect">
            <a:avLst/>
          </a:prstGeom>
          <a:noFill/>
          <a:ln/>
        </p:spPr>
        <p:txBody>
          <a:bodyPr wrap="square" lIns="0" tIns="0" rIns="0" bIns="0" rtlCol="0" anchor="ctr"/>
          <a:lstStyle/>
          <a:p>
            <a:pPr indent="0" marL="0">
              <a:buNone/>
            </a:pPr>
            <a:r>
              <a:rPr lang="en-US" sz="1400" spc="150" kern="0" dirty="0">
                <a:solidFill>
                  <a:srgbClr val="FF4655"/>
                </a:solidFill>
                <a:latin typeface="Courier New" pitchFamily="34" charset="0"/>
                <a:ea typeface="Courier New" pitchFamily="34" charset="-122"/>
                <a:cs typeface="Courier New" pitchFamily="34" charset="-120"/>
              </a:rPr>
              <a:t>A VALORANT DATA PROJECT</a:t>
            </a:r>
            <a:endParaRPr lang="en-US" sz="1400" dirty="0"/>
          </a:p>
        </p:txBody>
      </p:sp>
      <p:sp>
        <p:nvSpPr>
          <p:cNvPr id="3" name="Text 1"/>
          <p:cNvSpPr txBox="1"/>
          <p:nvPr/>
        </p:nvSpPr>
        <p:spPr>
          <a:xfrm>
            <a:off x="640080" y="1783080"/>
            <a:ext cx="6949440" cy="91440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Meta Data</a:t>
            </a:r>
            <a:endParaRPr lang="en-US" sz="6000" dirty="0"/>
          </a:p>
        </p:txBody>
      </p:sp>
      <p:sp>
        <p:nvSpPr>
          <p:cNvPr id="4" name="Text 2"/>
          <p:cNvSpPr txBox="1"/>
          <p:nvPr/>
        </p:nvSpPr>
        <p:spPr>
          <a:xfrm>
            <a:off x="640080" y="2788920"/>
            <a:ext cx="6949440" cy="548640"/>
          </a:xfrm>
          <a:prstGeom prst="rect">
            <a:avLst/>
          </a:prstGeom>
          <a:noFill/>
          <a:ln/>
        </p:spPr>
        <p:txBody>
          <a:bodyPr wrap="square" lIns="0" tIns="0" rIns="0" bIns="0" rtlCol="0" anchor="t"/>
          <a:lstStyle/>
          <a:p>
            <a:pPr indent="0" marL="0">
              <a:buNone/>
            </a:pPr>
            <a:r>
              <a:rPr lang="en-US" sz="2600" dirty="0">
                <a:solidFill>
                  <a:srgbClr val="B4BDC6"/>
                </a:solidFill>
                <a:latin typeface="Arial" pitchFamily="34" charset="0"/>
                <a:ea typeface="Arial" pitchFamily="34" charset="-122"/>
                <a:cs typeface="Arial" pitchFamily="34" charset="-120"/>
              </a:rPr>
              <a:t>What would the pros pick?</a:t>
            </a:r>
            <a:endParaRPr lang="en-US" sz="2600" dirty="0"/>
          </a:p>
        </p:txBody>
      </p:sp>
      <p:sp>
        <p:nvSpPr>
          <p:cNvPr id="5" name="Text 3"/>
          <p:cNvSpPr txBox="1"/>
          <p:nvPr/>
        </p:nvSpPr>
        <p:spPr>
          <a:xfrm>
            <a:off x="640080" y="5806440"/>
            <a:ext cx="7315200" cy="320040"/>
          </a:xfrm>
          <a:prstGeom prst="rect">
            <a:avLst/>
          </a:prstGeom>
          <a:noFill/>
          <a:ln/>
        </p:spPr>
        <p:txBody>
          <a:bodyPr wrap="square" lIns="0" tIns="0" rIns="0" bIns="0" rtlCol="0" anchor="ctr"/>
          <a:lstStyle/>
          <a:p>
            <a:pPr indent="0" marL="0">
              <a:buNone/>
            </a:pPr>
            <a:r>
              <a:rPr lang="en-US" sz="1400" spc="100" kern="0" dirty="0">
                <a:solidFill>
                  <a:srgbClr val="B4BDC6"/>
                </a:solidFill>
                <a:latin typeface="Courier New" pitchFamily="34" charset="0"/>
                <a:ea typeface="Courier New" pitchFamily="34" charset="-122"/>
                <a:cs typeface="Courier New" pitchFamily="34" charset="-120"/>
              </a:rPr>
              <a:t>Harun Tontus   ·   Friday 25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VALORANT for anyone who hasn't played</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Text 2"/>
          <p:cNvSpPr txBox="1"/>
          <p:nvPr/>
        </p:nvSpPr>
        <p:spPr>
          <a:xfrm>
            <a:off x="640080" y="1874520"/>
            <a:ext cx="3657600" cy="320040"/>
          </a:xfrm>
          <a:prstGeom prst="rect">
            <a:avLst/>
          </a:prstGeom>
          <a:noFill/>
          <a:ln/>
        </p:spPr>
        <p:txBody>
          <a:bodyPr wrap="square" lIns="0" tIns="0" rIns="0" bIns="0" rtlCol="0" anchor="ctr"/>
          <a:lstStyle/>
          <a:p>
            <a:pPr indent="0" marL="0">
              <a:buNone/>
            </a:pPr>
            <a:r>
              <a:rPr lang="en-US" sz="1400" spc="200" kern="0" dirty="0">
                <a:solidFill>
                  <a:srgbClr val="FF4655"/>
                </a:solidFill>
                <a:latin typeface="Courier New" pitchFamily="34" charset="0"/>
                <a:ea typeface="Courier New" pitchFamily="34" charset="-122"/>
                <a:cs typeface="Courier New" pitchFamily="34" charset="-120"/>
              </a:rPr>
              <a:t>MAP: LOTUS</a:t>
            </a:r>
            <a:endParaRPr lang="en-US" sz="1400" dirty="0"/>
          </a:p>
        </p:txBody>
      </p:sp>
      <p:sp>
        <p:nvSpPr>
          <p:cNvPr id="5" name="Shape 3"/>
          <p:cNvSpPr/>
          <p:nvPr/>
        </p:nvSpPr>
        <p:spPr>
          <a:xfrm>
            <a:off x="64008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6" name="Text 4"/>
          <p:cNvSpPr txBox="1"/>
          <p:nvPr/>
        </p:nvSpPr>
        <p:spPr>
          <a:xfrm>
            <a:off x="64008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7" name="Image 0" descr="Fade">    </p:cNvPr>
          <p:cNvPicPr>
            <a:picLocks noChangeAspect="1"/>
          </p:cNvPicPr>
          <p:nvPr/>
        </p:nvPicPr>
        <p:blipFill>
          <a:blip r:embed="rId2"/>
          <a:stretch>
            <a:fillRect/>
          </a:stretch>
        </p:blipFill>
        <p:spPr>
          <a:xfrm>
            <a:off x="694944" y="2322576"/>
            <a:ext cx="457200" cy="457200"/>
          </a:xfrm>
          <a:prstGeom prst="rect">
            <a:avLst/>
          </a:prstGeom>
        </p:spPr>
      </p:pic>
      <p:sp>
        <p:nvSpPr>
          <p:cNvPr id="8" name="Text 5"/>
          <p:cNvSpPr txBox="1"/>
          <p:nvPr/>
        </p:nvSpPr>
        <p:spPr>
          <a:xfrm>
            <a:off x="118872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Fade</a:t>
            </a:r>
            <a:endParaRPr lang="en-US" sz="1500" dirty="0"/>
          </a:p>
        </p:txBody>
      </p:sp>
      <p:sp>
        <p:nvSpPr>
          <p:cNvPr id="9" name="Shape 6"/>
          <p:cNvSpPr/>
          <p:nvPr/>
        </p:nvSpPr>
        <p:spPr>
          <a:xfrm>
            <a:off x="192024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10" name="Text 7"/>
          <p:cNvSpPr txBox="1"/>
          <p:nvPr/>
        </p:nvSpPr>
        <p:spPr>
          <a:xfrm>
            <a:off x="192024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11" name="Image 1" descr="Omen">    </p:cNvPr>
          <p:cNvPicPr>
            <a:picLocks noChangeAspect="1"/>
          </p:cNvPicPr>
          <p:nvPr/>
        </p:nvPicPr>
        <p:blipFill>
          <a:blip r:embed="rId3"/>
          <a:stretch>
            <a:fillRect/>
          </a:stretch>
        </p:blipFill>
        <p:spPr>
          <a:xfrm>
            <a:off x="1975104" y="2322576"/>
            <a:ext cx="457200" cy="457200"/>
          </a:xfrm>
          <a:prstGeom prst="rect">
            <a:avLst/>
          </a:prstGeom>
        </p:spPr>
      </p:pic>
      <p:sp>
        <p:nvSpPr>
          <p:cNvPr id="12" name="Text 8"/>
          <p:cNvSpPr txBox="1"/>
          <p:nvPr/>
        </p:nvSpPr>
        <p:spPr>
          <a:xfrm>
            <a:off x="246888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Omen</a:t>
            </a:r>
            <a:endParaRPr lang="en-US" sz="1500" dirty="0"/>
          </a:p>
        </p:txBody>
      </p:sp>
      <p:sp>
        <p:nvSpPr>
          <p:cNvPr id="13" name="Shape 9"/>
          <p:cNvSpPr/>
          <p:nvPr/>
        </p:nvSpPr>
        <p:spPr>
          <a:xfrm>
            <a:off x="320040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14" name="Text 10"/>
          <p:cNvSpPr txBox="1"/>
          <p:nvPr/>
        </p:nvSpPr>
        <p:spPr>
          <a:xfrm>
            <a:off x="320040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15" name="Image 2" descr="Raze">    </p:cNvPr>
          <p:cNvPicPr>
            <a:picLocks noChangeAspect="1"/>
          </p:cNvPicPr>
          <p:nvPr/>
        </p:nvPicPr>
        <p:blipFill>
          <a:blip r:embed="rId4"/>
          <a:stretch>
            <a:fillRect/>
          </a:stretch>
        </p:blipFill>
        <p:spPr>
          <a:xfrm>
            <a:off x="3255264" y="2322576"/>
            <a:ext cx="457200" cy="457200"/>
          </a:xfrm>
          <a:prstGeom prst="rect">
            <a:avLst/>
          </a:prstGeom>
        </p:spPr>
      </p:pic>
      <p:sp>
        <p:nvSpPr>
          <p:cNvPr id="16" name="Text 11"/>
          <p:cNvSpPr txBox="1"/>
          <p:nvPr/>
        </p:nvSpPr>
        <p:spPr>
          <a:xfrm>
            <a:off x="374904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Raze</a:t>
            </a:r>
            <a:endParaRPr lang="en-US" sz="1500" dirty="0"/>
          </a:p>
        </p:txBody>
      </p:sp>
      <p:sp>
        <p:nvSpPr>
          <p:cNvPr id="17" name="Shape 12"/>
          <p:cNvSpPr/>
          <p:nvPr/>
        </p:nvSpPr>
        <p:spPr>
          <a:xfrm>
            <a:off x="448056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18" name="Text 13"/>
          <p:cNvSpPr txBox="1"/>
          <p:nvPr/>
        </p:nvSpPr>
        <p:spPr>
          <a:xfrm>
            <a:off x="448056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19" name="Image 3" descr="Viper">    </p:cNvPr>
          <p:cNvPicPr>
            <a:picLocks noChangeAspect="1"/>
          </p:cNvPicPr>
          <p:nvPr/>
        </p:nvPicPr>
        <p:blipFill>
          <a:blip r:embed="rId5"/>
          <a:stretch>
            <a:fillRect/>
          </a:stretch>
        </p:blipFill>
        <p:spPr>
          <a:xfrm>
            <a:off x="4535424" y="2322576"/>
            <a:ext cx="457200" cy="457200"/>
          </a:xfrm>
          <a:prstGeom prst="rect">
            <a:avLst/>
          </a:prstGeom>
        </p:spPr>
      </p:pic>
      <p:sp>
        <p:nvSpPr>
          <p:cNvPr id="20" name="Text 14"/>
          <p:cNvSpPr txBox="1"/>
          <p:nvPr/>
        </p:nvSpPr>
        <p:spPr>
          <a:xfrm>
            <a:off x="502920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Viper</a:t>
            </a:r>
            <a:endParaRPr lang="en-US" sz="1500" dirty="0"/>
          </a:p>
        </p:txBody>
      </p:sp>
      <p:sp>
        <p:nvSpPr>
          <p:cNvPr id="21" name="Shape 15"/>
          <p:cNvSpPr/>
          <p:nvPr/>
        </p:nvSpPr>
        <p:spPr>
          <a:xfrm>
            <a:off x="576072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22" name="Text 16"/>
          <p:cNvSpPr txBox="1"/>
          <p:nvPr/>
        </p:nvSpPr>
        <p:spPr>
          <a:xfrm>
            <a:off x="576072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23" name="Image 4" descr="Vyse">    </p:cNvPr>
          <p:cNvPicPr>
            <a:picLocks noChangeAspect="1"/>
          </p:cNvPicPr>
          <p:nvPr/>
        </p:nvPicPr>
        <p:blipFill>
          <a:blip r:embed="rId6"/>
          <a:stretch>
            <a:fillRect/>
          </a:stretch>
        </p:blipFill>
        <p:spPr>
          <a:xfrm>
            <a:off x="5815584" y="2322576"/>
            <a:ext cx="457200" cy="457200"/>
          </a:xfrm>
          <a:prstGeom prst="rect">
            <a:avLst/>
          </a:prstGeom>
        </p:spPr>
      </p:pic>
      <p:sp>
        <p:nvSpPr>
          <p:cNvPr id="24" name="Text 17"/>
          <p:cNvSpPr txBox="1"/>
          <p:nvPr/>
        </p:nvSpPr>
        <p:spPr>
          <a:xfrm>
            <a:off x="630936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Vyse</a:t>
            </a:r>
            <a:endParaRPr lang="en-US" sz="1500" dirty="0"/>
          </a:p>
        </p:txBody>
      </p:sp>
      <p:sp>
        <p:nvSpPr>
          <p:cNvPr id="25" name="Text 18"/>
          <p:cNvSpPr txBox="1"/>
          <p:nvPr/>
        </p:nvSpPr>
        <p:spPr>
          <a:xfrm>
            <a:off x="640080" y="2971800"/>
            <a:ext cx="6309360" cy="365760"/>
          </a:xfrm>
          <a:prstGeom prst="rect">
            <a:avLst/>
          </a:prstGeom>
          <a:noFill/>
          <a:ln/>
        </p:spPr>
        <p:txBody>
          <a:bodyPr wrap="square" lIns="0" tIns="0" rIns="0" bIns="0" rtlCol="0" anchor="ctr"/>
          <a:lstStyle/>
          <a:p>
            <a:pPr indent="0" marL="0">
              <a:buNone/>
            </a:pPr>
            <a:r>
              <a:rPr lang="en-US" sz="1800" i="1" dirty="0">
                <a:solidFill>
                  <a:srgbClr val="B4BDC6"/>
                </a:solidFill>
                <a:latin typeface="Calibri" pitchFamily="34" charset="0"/>
                <a:ea typeface="Calibri" pitchFamily="34" charset="-122"/>
                <a:cs typeface="Calibri" pitchFamily="34" charset="-120"/>
              </a:rPr>
              <a:t>A real pro line-up on Lotus</a:t>
            </a:r>
            <a:endParaRPr lang="en-US" sz="1800" dirty="0"/>
          </a:p>
        </p:txBody>
      </p:sp>
      <p:sp>
        <p:nvSpPr>
          <p:cNvPr id="26" name="Shape 19"/>
          <p:cNvSpPr/>
          <p:nvPr/>
        </p:nvSpPr>
        <p:spPr>
          <a:xfrm>
            <a:off x="7315200" y="1874520"/>
            <a:ext cx="4206240" cy="1508760"/>
          </a:xfrm>
          <a:prstGeom prst="roundRect">
            <a:avLst>
              <a:gd name="adj" fmla="val 4848"/>
            </a:avLst>
          </a:prstGeom>
          <a:solidFill>
            <a:srgbClr val="0F1923">
              <a:alpha val="78000"/>
            </a:srgbClr>
          </a:solidFill>
          <a:ln w="9525">
            <a:solidFill>
              <a:srgbClr val="FFFFFF">
                <a:alpha val="20000"/>
              </a:srgbClr>
            </a:solidFill>
            <a:prstDash val="solid"/>
          </a:ln>
        </p:spPr>
      </p:sp>
      <p:sp>
        <p:nvSpPr>
          <p:cNvPr id="27" name="Text 20"/>
          <p:cNvSpPr txBox="1"/>
          <p:nvPr/>
        </p:nvSpPr>
        <p:spPr>
          <a:xfrm>
            <a:off x="7571232" y="2029968"/>
            <a:ext cx="369417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A PRO MATCH, BEST OF THREE</a:t>
            </a:r>
            <a:endParaRPr lang="en-US" sz="1300" dirty="0"/>
          </a:p>
        </p:txBody>
      </p:sp>
      <p:sp>
        <p:nvSpPr>
          <p:cNvPr id="28" name="Text 21"/>
          <p:cNvSpPr txBox="1"/>
          <p:nvPr/>
        </p:nvSpPr>
        <p:spPr>
          <a:xfrm>
            <a:off x="7571232" y="2423160"/>
            <a:ext cx="9144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Map 1</a:t>
            </a:r>
            <a:endParaRPr lang="en-US" sz="1500" dirty="0"/>
          </a:p>
        </p:txBody>
      </p:sp>
      <p:sp>
        <p:nvSpPr>
          <p:cNvPr id="29" name="Text 22"/>
          <p:cNvSpPr txBox="1"/>
          <p:nvPr/>
        </p:nvSpPr>
        <p:spPr>
          <a:xfrm>
            <a:off x="8458200" y="2423160"/>
            <a:ext cx="2834640" cy="292608"/>
          </a:xfrm>
          <a:prstGeom prst="rect">
            <a:avLst/>
          </a:prstGeom>
          <a:noFill/>
          <a:ln/>
        </p:spPr>
        <p:txBody>
          <a:bodyPr wrap="square" lIns="0" tIns="0" rIns="0" bIns="0" rtlCol="0" anchor="ctr"/>
          <a:lstStyle/>
          <a:p>
            <a:pPr indent="0" marL="0">
              <a:buNone/>
            </a:pPr>
            <a:r>
              <a:rPr lang="en-US" sz="1500" dirty="0">
                <a:solidFill>
                  <a:srgbClr val="ECE8E1"/>
                </a:solidFill>
                <a:latin typeface="Calibri" pitchFamily="34" charset="0"/>
                <a:ea typeface="Calibri" pitchFamily="34" charset="-122"/>
                <a:cs typeface="Calibri" pitchFamily="34" charset="-120"/>
              </a:rPr>
              <a:t>chosen by team A</a:t>
            </a:r>
            <a:endParaRPr lang="en-US" sz="1500" dirty="0"/>
          </a:p>
        </p:txBody>
      </p:sp>
      <p:sp>
        <p:nvSpPr>
          <p:cNvPr id="30" name="Text 23"/>
          <p:cNvSpPr txBox="1"/>
          <p:nvPr/>
        </p:nvSpPr>
        <p:spPr>
          <a:xfrm>
            <a:off x="7571232" y="2734056"/>
            <a:ext cx="9144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Map 2</a:t>
            </a:r>
            <a:endParaRPr lang="en-US" sz="1500" dirty="0"/>
          </a:p>
        </p:txBody>
      </p:sp>
      <p:sp>
        <p:nvSpPr>
          <p:cNvPr id="31" name="Text 24"/>
          <p:cNvSpPr txBox="1"/>
          <p:nvPr/>
        </p:nvSpPr>
        <p:spPr>
          <a:xfrm>
            <a:off x="8458200" y="2734056"/>
            <a:ext cx="2834640" cy="292608"/>
          </a:xfrm>
          <a:prstGeom prst="rect">
            <a:avLst/>
          </a:prstGeom>
          <a:noFill/>
          <a:ln/>
        </p:spPr>
        <p:txBody>
          <a:bodyPr wrap="square" lIns="0" tIns="0" rIns="0" bIns="0" rtlCol="0" anchor="ctr"/>
          <a:lstStyle/>
          <a:p>
            <a:pPr indent="0" marL="0">
              <a:buNone/>
            </a:pPr>
            <a:r>
              <a:rPr lang="en-US" sz="1500" dirty="0">
                <a:solidFill>
                  <a:srgbClr val="ECE8E1"/>
                </a:solidFill>
                <a:latin typeface="Calibri" pitchFamily="34" charset="0"/>
                <a:ea typeface="Calibri" pitchFamily="34" charset="-122"/>
                <a:cs typeface="Calibri" pitchFamily="34" charset="-120"/>
              </a:rPr>
              <a:t>chosen by team B</a:t>
            </a:r>
            <a:endParaRPr lang="en-US" sz="1500" dirty="0"/>
          </a:p>
        </p:txBody>
      </p:sp>
      <p:sp>
        <p:nvSpPr>
          <p:cNvPr id="32" name="Text 25"/>
          <p:cNvSpPr txBox="1"/>
          <p:nvPr/>
        </p:nvSpPr>
        <p:spPr>
          <a:xfrm>
            <a:off x="7571232" y="3044952"/>
            <a:ext cx="9144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Map 3</a:t>
            </a:r>
            <a:endParaRPr lang="en-US" sz="1500" dirty="0"/>
          </a:p>
        </p:txBody>
      </p:sp>
      <p:sp>
        <p:nvSpPr>
          <p:cNvPr id="33" name="Text 26"/>
          <p:cNvSpPr txBox="1"/>
          <p:nvPr/>
        </p:nvSpPr>
        <p:spPr>
          <a:xfrm>
            <a:off x="8458200" y="3044952"/>
            <a:ext cx="2834640" cy="292608"/>
          </a:xfrm>
          <a:prstGeom prst="rect">
            <a:avLst/>
          </a:prstGeom>
          <a:noFill/>
          <a:ln/>
        </p:spPr>
        <p:txBody>
          <a:bodyPr wrap="square" lIns="0" tIns="0" rIns="0" bIns="0" rtlCol="0" anchor="ctr"/>
          <a:lstStyle/>
          <a:p>
            <a:pPr indent="0" marL="0">
              <a:buNone/>
            </a:pPr>
            <a:r>
              <a:rPr lang="en-US" sz="1500" dirty="0">
                <a:solidFill>
                  <a:srgbClr val="ECE8E1"/>
                </a:solidFill>
                <a:latin typeface="Calibri" pitchFamily="34" charset="0"/>
                <a:ea typeface="Calibri" pitchFamily="34" charset="-122"/>
                <a:cs typeface="Calibri" pitchFamily="34" charset="-120"/>
              </a:rPr>
              <a:t>the one left over, if needed</a:t>
            </a:r>
            <a:endParaRPr lang="en-US" sz="1500" dirty="0"/>
          </a:p>
        </p:txBody>
      </p:sp>
      <p:sp>
        <p:nvSpPr>
          <p:cNvPr id="34" name="Shape 27"/>
          <p:cNvSpPr/>
          <p:nvPr/>
        </p:nvSpPr>
        <p:spPr>
          <a:xfrm>
            <a:off x="640080" y="3657600"/>
            <a:ext cx="3444240" cy="2423160"/>
          </a:xfrm>
          <a:prstGeom prst="roundRect">
            <a:avLst>
              <a:gd name="adj" fmla="val 3019"/>
            </a:avLst>
          </a:prstGeom>
          <a:solidFill>
            <a:srgbClr val="0F1923">
              <a:alpha val="78000"/>
            </a:srgbClr>
          </a:solidFill>
          <a:ln w="9525">
            <a:solidFill>
              <a:srgbClr val="FFFFFF">
                <a:alpha val="20000"/>
              </a:srgbClr>
            </a:solidFill>
            <a:prstDash val="solid"/>
          </a:ln>
        </p:spPr>
      </p:sp>
      <p:sp>
        <p:nvSpPr>
          <p:cNvPr id="35" name="Text 28"/>
          <p:cNvSpPr txBox="1"/>
          <p:nvPr/>
        </p:nvSpPr>
        <p:spPr>
          <a:xfrm>
            <a:off x="932688" y="3877056"/>
            <a:ext cx="2859024" cy="576072"/>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Map</a:t>
            </a:r>
            <a:endParaRPr lang="en-US" sz="2400" dirty="0"/>
          </a:p>
        </p:txBody>
      </p:sp>
      <p:sp>
        <p:nvSpPr>
          <p:cNvPr id="36" name="Text 29"/>
          <p:cNvSpPr txBox="1"/>
          <p:nvPr/>
        </p:nvSpPr>
        <p:spPr>
          <a:xfrm>
            <a:off x="932688" y="4526280"/>
            <a:ext cx="2859024" cy="1389888"/>
          </a:xfrm>
          <a:prstGeom prst="rect">
            <a:avLst/>
          </a:prstGeom>
          <a:noFill/>
          <a:ln/>
        </p:spPr>
        <p:txBody>
          <a:bodyPr wrap="square" lIns="0" tIns="0" rIns="0" bIns="0" rtlCol="0" anchor="t"/>
          <a:lstStyle/>
          <a:p>
            <a:pPr indent="0" marL="0">
              <a:buNone/>
            </a:pPr>
            <a:r>
              <a:rPr lang="en-US" sz="2200" dirty="0">
                <a:solidFill>
                  <a:srgbClr val="ECE8E1"/>
                </a:solidFill>
                <a:latin typeface="Calibri" pitchFamily="34" charset="0"/>
                <a:ea typeface="Calibri" pitchFamily="34" charset="-122"/>
                <a:cs typeface="Calibri" pitchFamily="34" charset="-120"/>
              </a:rPr>
              <a:t>The arena. Seven are in play at a time, and the set changes over the years.</a:t>
            </a:r>
            <a:endParaRPr lang="en-US" sz="2200" dirty="0"/>
          </a:p>
        </p:txBody>
      </p:sp>
      <p:sp>
        <p:nvSpPr>
          <p:cNvPr id="37" name="Shape 30"/>
          <p:cNvSpPr/>
          <p:nvPr/>
        </p:nvSpPr>
        <p:spPr>
          <a:xfrm>
            <a:off x="4358640" y="3657600"/>
            <a:ext cx="3444240" cy="2423160"/>
          </a:xfrm>
          <a:prstGeom prst="roundRect">
            <a:avLst>
              <a:gd name="adj" fmla="val 3019"/>
            </a:avLst>
          </a:prstGeom>
          <a:solidFill>
            <a:srgbClr val="0F1923">
              <a:alpha val="78000"/>
            </a:srgbClr>
          </a:solidFill>
          <a:ln w="9525">
            <a:solidFill>
              <a:srgbClr val="FFFFFF">
                <a:alpha val="20000"/>
              </a:srgbClr>
            </a:solidFill>
            <a:prstDash val="solid"/>
          </a:ln>
        </p:spPr>
      </p:sp>
      <p:sp>
        <p:nvSpPr>
          <p:cNvPr id="38" name="Text 31"/>
          <p:cNvSpPr txBox="1"/>
          <p:nvPr/>
        </p:nvSpPr>
        <p:spPr>
          <a:xfrm>
            <a:off x="4651248" y="3877056"/>
            <a:ext cx="2859024" cy="576072"/>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Agent</a:t>
            </a:r>
            <a:endParaRPr lang="en-US" sz="2400" dirty="0"/>
          </a:p>
        </p:txBody>
      </p:sp>
      <p:sp>
        <p:nvSpPr>
          <p:cNvPr id="39" name="Text 32"/>
          <p:cNvSpPr txBox="1"/>
          <p:nvPr/>
        </p:nvSpPr>
        <p:spPr>
          <a:xfrm>
            <a:off x="4651248" y="4526280"/>
            <a:ext cx="2859024" cy="1389888"/>
          </a:xfrm>
          <a:prstGeom prst="rect">
            <a:avLst/>
          </a:prstGeom>
          <a:noFill/>
          <a:ln/>
        </p:spPr>
        <p:txBody>
          <a:bodyPr wrap="square" lIns="0" tIns="0" rIns="0" bIns="0" rtlCol="0" anchor="t"/>
          <a:lstStyle/>
          <a:p>
            <a:pPr indent="0" marL="0">
              <a:buNone/>
            </a:pPr>
            <a:r>
              <a:rPr lang="en-US" sz="2200" dirty="0">
                <a:solidFill>
                  <a:srgbClr val="ECE8E1"/>
                </a:solidFill>
                <a:latin typeface="Calibri" pitchFamily="34" charset="0"/>
                <a:ea typeface="Calibri" pitchFamily="34" charset="-122"/>
                <a:cs typeface="Calibri" pitchFamily="34" charset="-120"/>
              </a:rPr>
              <a:t>A character with its own abilities. No two teammates pick the same one.</a:t>
            </a:r>
            <a:endParaRPr lang="en-US" sz="2200" dirty="0"/>
          </a:p>
        </p:txBody>
      </p:sp>
      <p:sp>
        <p:nvSpPr>
          <p:cNvPr id="40" name="Shape 33"/>
          <p:cNvSpPr/>
          <p:nvPr/>
        </p:nvSpPr>
        <p:spPr>
          <a:xfrm>
            <a:off x="8077200" y="3657600"/>
            <a:ext cx="3444240" cy="2423160"/>
          </a:xfrm>
          <a:prstGeom prst="roundRect">
            <a:avLst>
              <a:gd name="adj" fmla="val 3019"/>
            </a:avLst>
          </a:prstGeom>
          <a:solidFill>
            <a:srgbClr val="0F1923">
              <a:alpha val="78000"/>
            </a:srgbClr>
          </a:solidFill>
          <a:ln w="9525">
            <a:solidFill>
              <a:srgbClr val="FFFFFF">
                <a:alpha val="20000"/>
              </a:srgbClr>
            </a:solidFill>
            <a:prstDash val="solid"/>
          </a:ln>
        </p:spPr>
      </p:sp>
      <p:sp>
        <p:nvSpPr>
          <p:cNvPr id="41" name="Text 34"/>
          <p:cNvSpPr txBox="1"/>
          <p:nvPr/>
        </p:nvSpPr>
        <p:spPr>
          <a:xfrm>
            <a:off x="8369808" y="3877056"/>
            <a:ext cx="2859024" cy="576072"/>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Line-up</a:t>
            </a:r>
            <a:endParaRPr lang="en-US" sz="2400" dirty="0"/>
          </a:p>
        </p:txBody>
      </p:sp>
      <p:sp>
        <p:nvSpPr>
          <p:cNvPr id="42" name="Text 35"/>
          <p:cNvSpPr txBox="1"/>
          <p:nvPr/>
        </p:nvSpPr>
        <p:spPr>
          <a:xfrm>
            <a:off x="8369808" y="4526280"/>
            <a:ext cx="2859024" cy="1389888"/>
          </a:xfrm>
          <a:prstGeom prst="rect">
            <a:avLst/>
          </a:prstGeom>
          <a:noFill/>
          <a:ln/>
        </p:spPr>
        <p:txBody>
          <a:bodyPr wrap="square" lIns="0" tIns="0" rIns="0" bIns="0" rtlCol="0" anchor="t"/>
          <a:lstStyle/>
          <a:p>
            <a:pPr indent="0" marL="0">
              <a:buNone/>
            </a:pPr>
            <a:r>
              <a:rPr lang="en-US" sz="2200" dirty="0">
                <a:solidFill>
                  <a:srgbClr val="ECE8E1"/>
                </a:solidFill>
                <a:latin typeface="Calibri" pitchFamily="34" charset="0"/>
                <a:ea typeface="Calibri" pitchFamily="34" charset="-122"/>
                <a:cs typeface="Calibri" pitchFamily="34" charset="-120"/>
              </a:rPr>
              <a:t>A team's five agents. Roles make them follow patterns.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Players try to optimise for the best line-up</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920240"/>
            <a:ext cx="3383280" cy="3291840"/>
          </a:xfrm>
          <a:prstGeom prst="roundRect">
            <a:avLst>
              <a:gd name="adj" fmla="val 2222"/>
            </a:avLst>
          </a:prstGeom>
          <a:solidFill>
            <a:srgbClr val="3A1720">
              <a:alpha val="88000"/>
            </a:srgbClr>
          </a:solidFill>
          <a:ln w="12700">
            <a:solidFill>
              <a:srgbClr val="FF4655">
                <a:alpha val="75000"/>
              </a:srgbClr>
            </a:solidFill>
            <a:prstDash val="solid"/>
          </a:ln>
        </p:spPr>
      </p:sp>
      <p:sp>
        <p:nvSpPr>
          <p:cNvPr id="5" name="Text 3"/>
          <p:cNvSpPr txBox="1"/>
          <p:nvPr/>
        </p:nvSpPr>
        <p:spPr>
          <a:xfrm>
            <a:off x="896112" y="2121408"/>
            <a:ext cx="287121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ME</a:t>
            </a:r>
            <a:endParaRPr lang="en-US" sz="1300" dirty="0"/>
          </a:p>
        </p:txBody>
      </p:sp>
      <p:sp>
        <p:nvSpPr>
          <p:cNvPr id="6" name="Text 4"/>
          <p:cNvSpPr txBox="1"/>
          <p:nvPr/>
        </p:nvSpPr>
        <p:spPr>
          <a:xfrm>
            <a:off x="896112" y="2523744"/>
            <a:ext cx="2871216" cy="2468880"/>
          </a:xfrm>
          <a:prstGeom prst="rect">
            <a:avLst/>
          </a:prstGeom>
          <a:noFill/>
          <a:ln/>
        </p:spPr>
        <p:txBody>
          <a:bodyPr wrap="square" lIns="0" tIns="0" rIns="0" bIns="0" rtlCol="0" anchor="t"/>
          <a:lstStyle/>
          <a:p>
            <a:pPr indent="0" marL="0">
              <a:buNone/>
            </a:pPr>
            <a:r>
              <a:rPr lang="en-US" sz="2400" dirty="0">
                <a:solidFill>
                  <a:srgbClr val="ECE8E1"/>
                </a:solidFill>
                <a:latin typeface="Calibri" pitchFamily="34" charset="0"/>
                <a:ea typeface="Calibri" pitchFamily="34" charset="-122"/>
                <a:cs typeface="Calibri" pitchFamily="34" charset="-120"/>
              </a:rPr>
              <a:t>Four years of competitive play, achieving one of the highest ranks. Viewer of the pro tour.</a:t>
            </a:r>
            <a:endParaRPr lang="en-US" sz="2400" dirty="0"/>
          </a:p>
        </p:txBody>
      </p:sp>
      <p:sp>
        <p:nvSpPr>
          <p:cNvPr id="7" name="Shape 5"/>
          <p:cNvSpPr/>
          <p:nvPr/>
        </p:nvSpPr>
        <p:spPr>
          <a:xfrm>
            <a:off x="4389120" y="1920240"/>
            <a:ext cx="3383280" cy="3291840"/>
          </a:xfrm>
          <a:prstGeom prst="roundRect">
            <a:avLst>
              <a:gd name="adj" fmla="val 2222"/>
            </a:avLst>
          </a:prstGeom>
          <a:solidFill>
            <a:srgbClr val="0F1923">
              <a:alpha val="78000"/>
            </a:srgbClr>
          </a:solidFill>
          <a:ln w="9525">
            <a:solidFill>
              <a:srgbClr val="FFFFFF">
                <a:alpha val="20000"/>
              </a:srgbClr>
            </a:solidFill>
            <a:prstDash val="solid"/>
          </a:ln>
        </p:spPr>
      </p:sp>
      <p:sp>
        <p:nvSpPr>
          <p:cNvPr id="8" name="Text 6"/>
          <p:cNvSpPr txBox="1"/>
          <p:nvPr/>
        </p:nvSpPr>
        <p:spPr>
          <a:xfrm>
            <a:off x="4645152" y="2121408"/>
            <a:ext cx="287121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THE GAP</a:t>
            </a:r>
            <a:endParaRPr lang="en-US" sz="1300" dirty="0"/>
          </a:p>
        </p:txBody>
      </p:sp>
      <p:sp>
        <p:nvSpPr>
          <p:cNvPr id="9" name="Text 7"/>
          <p:cNvSpPr txBox="1"/>
          <p:nvPr/>
        </p:nvSpPr>
        <p:spPr>
          <a:xfrm>
            <a:off x="4645152" y="2523744"/>
            <a:ext cx="2871216" cy="2468880"/>
          </a:xfrm>
          <a:prstGeom prst="rect">
            <a:avLst/>
          </a:prstGeom>
          <a:noFill/>
          <a:ln/>
        </p:spPr>
        <p:txBody>
          <a:bodyPr wrap="square" lIns="0" tIns="0" rIns="0" bIns="0" rtlCol="0" anchor="t"/>
          <a:lstStyle/>
          <a:p>
            <a:pPr indent="0" marL="0">
              <a:buNone/>
            </a:pPr>
            <a:r>
              <a:rPr lang="en-US" sz="2400" dirty="0">
                <a:solidFill>
                  <a:srgbClr val="ECE8E1"/>
                </a:solidFill>
                <a:latin typeface="Calibri" pitchFamily="34" charset="0"/>
                <a:ea typeface="Calibri" pitchFamily="34" charset="-122"/>
                <a:cs typeface="Calibri" pitchFamily="34" charset="-120"/>
              </a:rPr>
              <a:t>Stats sites show past pick and win rates. They don't test which agents work better together.</a:t>
            </a:r>
            <a:endParaRPr lang="en-US" sz="2400" dirty="0"/>
          </a:p>
        </p:txBody>
      </p:sp>
      <p:sp>
        <p:nvSpPr>
          <p:cNvPr id="10" name="Shape 8"/>
          <p:cNvSpPr/>
          <p:nvPr/>
        </p:nvSpPr>
        <p:spPr>
          <a:xfrm>
            <a:off x="8138160" y="1920240"/>
            <a:ext cx="3383280" cy="3291840"/>
          </a:xfrm>
          <a:prstGeom prst="roundRect">
            <a:avLst>
              <a:gd name="adj" fmla="val 2222"/>
            </a:avLst>
          </a:prstGeom>
          <a:solidFill>
            <a:srgbClr val="0F1923">
              <a:alpha val="78000"/>
            </a:srgbClr>
          </a:solidFill>
          <a:ln w="9525">
            <a:solidFill>
              <a:srgbClr val="FFFFFF">
                <a:alpha val="20000"/>
              </a:srgbClr>
            </a:solidFill>
            <a:prstDash val="solid"/>
          </a:ln>
        </p:spPr>
      </p:sp>
      <p:sp>
        <p:nvSpPr>
          <p:cNvPr id="11" name="Text 9"/>
          <p:cNvSpPr txBox="1"/>
          <p:nvPr/>
        </p:nvSpPr>
        <p:spPr>
          <a:xfrm>
            <a:off x="8394192" y="2121408"/>
            <a:ext cx="287121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WHO IT'S FOR</a:t>
            </a:r>
            <a:endParaRPr lang="en-US" sz="1300" dirty="0"/>
          </a:p>
        </p:txBody>
      </p:sp>
      <p:sp>
        <p:nvSpPr>
          <p:cNvPr id="12" name="Text 10"/>
          <p:cNvSpPr txBox="1"/>
          <p:nvPr/>
        </p:nvSpPr>
        <p:spPr>
          <a:xfrm>
            <a:off x="8394192" y="2523744"/>
            <a:ext cx="2871216" cy="2468880"/>
          </a:xfrm>
          <a:prstGeom prst="rect">
            <a:avLst/>
          </a:prstGeom>
          <a:noFill/>
          <a:ln/>
        </p:spPr>
        <p:txBody>
          <a:bodyPr wrap="square" lIns="0" tIns="0" rIns="0" bIns="0" rtlCol="0" anchor="t"/>
          <a:lstStyle/>
          <a:p>
            <a:pPr indent="0" marL="0">
              <a:buNone/>
            </a:pPr>
            <a:r>
              <a:rPr lang="en-US" sz="2400" dirty="0">
                <a:solidFill>
                  <a:srgbClr val="ECE8E1"/>
                </a:solidFill>
                <a:latin typeface="Calibri" pitchFamily="34" charset="0"/>
                <a:ea typeface="Calibri" pitchFamily="34" charset="-122"/>
                <a:cs typeface="Calibri" pitchFamily="34" charset="-120"/>
              </a:rPr>
              <a:t>Players picking a line-up, and fans curious what the pros would do.</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Three questions</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920240"/>
            <a:ext cx="3383280" cy="3200400"/>
          </a:xfrm>
          <a:prstGeom prst="roundRect">
            <a:avLst>
              <a:gd name="adj" fmla="val 2286"/>
            </a:avLst>
          </a:prstGeom>
          <a:solidFill>
            <a:srgbClr val="3A1720">
              <a:alpha val="88000"/>
            </a:srgbClr>
          </a:solidFill>
          <a:ln w="12700">
            <a:solidFill>
              <a:srgbClr val="FF4655">
                <a:alpha val="75000"/>
              </a:srgbClr>
            </a:solidFill>
            <a:prstDash val="solid"/>
          </a:ln>
        </p:spPr>
      </p:sp>
      <p:sp>
        <p:nvSpPr>
          <p:cNvPr id="5" name="Shape 3"/>
          <p:cNvSpPr/>
          <p:nvPr/>
        </p:nvSpPr>
        <p:spPr>
          <a:xfrm>
            <a:off x="1005840" y="2240280"/>
            <a:ext cx="502920" cy="502920"/>
          </a:xfrm>
          <a:prstGeom prst="ellipse">
            <a:avLst/>
          </a:prstGeom>
          <a:solidFill>
            <a:srgbClr val="FF4655"/>
          </a:solidFill>
          <a:ln w="12700">
            <a:solidFill>
              <a:srgbClr val="FF4655"/>
            </a:solidFill>
            <a:prstDash val="solid"/>
          </a:ln>
        </p:spPr>
      </p:sp>
      <p:sp>
        <p:nvSpPr>
          <p:cNvPr id="6" name="Text 4"/>
          <p:cNvSpPr txBox="1"/>
          <p:nvPr/>
        </p:nvSpPr>
        <p:spPr>
          <a:xfrm>
            <a:off x="1005840" y="2240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01</a:t>
            </a:r>
            <a:endParaRPr lang="en-US" sz="1500" dirty="0"/>
          </a:p>
        </p:txBody>
      </p:sp>
      <p:sp>
        <p:nvSpPr>
          <p:cNvPr id="7" name="Text 5"/>
          <p:cNvSpPr txBox="1"/>
          <p:nvPr/>
        </p:nvSpPr>
        <p:spPr>
          <a:xfrm>
            <a:off x="1005840" y="2834640"/>
            <a:ext cx="2651760" cy="86868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What would the pros pick?</a:t>
            </a:r>
            <a:endParaRPr lang="en-US" sz="2300" dirty="0"/>
          </a:p>
        </p:txBody>
      </p:sp>
      <p:sp>
        <p:nvSpPr>
          <p:cNvPr id="8" name="Text 6"/>
          <p:cNvSpPr txBox="1"/>
          <p:nvPr/>
        </p:nvSpPr>
        <p:spPr>
          <a:xfrm>
            <a:off x="1005840" y="3794760"/>
            <a:ext cx="2651760" cy="1097280"/>
          </a:xfrm>
          <a:prstGeom prst="rect">
            <a:avLst/>
          </a:prstGeom>
          <a:noFill/>
          <a:ln/>
        </p:spPr>
        <p:txBody>
          <a:bodyPr wrap="square" lIns="0" tIns="0" rIns="0" bIns="0" rtlCol="0" anchor="t"/>
          <a:lstStyle/>
          <a:p>
            <a:pPr indent="0" marL="0">
              <a:buNone/>
            </a:pPr>
            <a:r>
              <a:rPr lang="en-US" sz="2100" dirty="0">
                <a:solidFill>
                  <a:srgbClr val="ECE8E1"/>
                </a:solidFill>
                <a:latin typeface="Calibri" pitchFamily="34" charset="0"/>
                <a:ea typeface="Calibri" pitchFamily="34" charset="-122"/>
                <a:cs typeface="Calibri" pitchFamily="34" charset="-120"/>
              </a:rPr>
              <a:t>A map and four agents in, the fifth out.</a:t>
            </a:r>
            <a:endParaRPr lang="en-US" sz="2100" dirty="0"/>
          </a:p>
        </p:txBody>
      </p:sp>
      <p:sp>
        <p:nvSpPr>
          <p:cNvPr id="9" name="Shape 7"/>
          <p:cNvSpPr/>
          <p:nvPr/>
        </p:nvSpPr>
        <p:spPr>
          <a:xfrm>
            <a:off x="4389120" y="1920240"/>
            <a:ext cx="3383280" cy="3200400"/>
          </a:xfrm>
          <a:prstGeom prst="roundRect">
            <a:avLst>
              <a:gd name="adj" fmla="val 2286"/>
            </a:avLst>
          </a:prstGeom>
          <a:solidFill>
            <a:srgbClr val="0F1923">
              <a:alpha val="78000"/>
            </a:srgbClr>
          </a:solidFill>
          <a:ln w="9525">
            <a:solidFill>
              <a:srgbClr val="FFFFFF">
                <a:alpha val="20000"/>
              </a:srgbClr>
            </a:solidFill>
            <a:prstDash val="solid"/>
          </a:ln>
        </p:spPr>
      </p:sp>
      <p:sp>
        <p:nvSpPr>
          <p:cNvPr id="10" name="Shape 8"/>
          <p:cNvSpPr/>
          <p:nvPr/>
        </p:nvSpPr>
        <p:spPr>
          <a:xfrm>
            <a:off x="4754880" y="2240280"/>
            <a:ext cx="502920" cy="502920"/>
          </a:xfrm>
          <a:prstGeom prst="ellipse">
            <a:avLst/>
          </a:prstGeom>
          <a:solidFill>
            <a:srgbClr val="FF4655"/>
          </a:solidFill>
          <a:ln w="12700">
            <a:solidFill>
              <a:srgbClr val="FF4655"/>
            </a:solidFill>
            <a:prstDash val="solid"/>
          </a:ln>
        </p:spPr>
      </p:sp>
      <p:sp>
        <p:nvSpPr>
          <p:cNvPr id="11" name="Text 9"/>
          <p:cNvSpPr txBox="1"/>
          <p:nvPr/>
        </p:nvSpPr>
        <p:spPr>
          <a:xfrm>
            <a:off x="4754880" y="2240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02</a:t>
            </a:r>
            <a:endParaRPr lang="en-US" sz="1500" dirty="0"/>
          </a:p>
        </p:txBody>
      </p:sp>
      <p:sp>
        <p:nvSpPr>
          <p:cNvPr id="12" name="Text 10"/>
          <p:cNvSpPr txBox="1"/>
          <p:nvPr/>
        </p:nvSpPr>
        <p:spPr>
          <a:xfrm>
            <a:off x="4754880" y="2834640"/>
            <a:ext cx="2651760" cy="86868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Do agent picks predict who wins?</a:t>
            </a:r>
            <a:endParaRPr lang="en-US" sz="2300" dirty="0"/>
          </a:p>
        </p:txBody>
      </p:sp>
      <p:sp>
        <p:nvSpPr>
          <p:cNvPr id="13" name="Text 11"/>
          <p:cNvSpPr txBox="1"/>
          <p:nvPr/>
        </p:nvSpPr>
        <p:spPr>
          <a:xfrm>
            <a:off x="4754880" y="3794760"/>
            <a:ext cx="2651760" cy="1097280"/>
          </a:xfrm>
          <a:prstGeom prst="rect">
            <a:avLst/>
          </a:prstGeom>
          <a:noFill/>
          <a:ln/>
        </p:spPr>
        <p:txBody>
          <a:bodyPr wrap="square" lIns="0" tIns="0" rIns="0" bIns="0" rtlCol="0" anchor="t"/>
          <a:lstStyle/>
          <a:p>
            <a:pPr indent="0" marL="0">
              <a:buNone/>
            </a:pPr>
            <a:r>
              <a:rPr lang="en-US" sz="2100" dirty="0">
                <a:solidFill>
                  <a:srgbClr val="ECE8E1"/>
                </a:solidFill>
                <a:latin typeface="Calibri" pitchFamily="34" charset="0"/>
                <a:ea typeface="Calibri" pitchFamily="34" charset="-122"/>
                <a:cs typeface="Calibri" pitchFamily="34" charset="-120"/>
              </a:rPr>
              <a:t>Using only what's known before the game.</a:t>
            </a:r>
            <a:endParaRPr lang="en-US" sz="2100" dirty="0"/>
          </a:p>
        </p:txBody>
      </p:sp>
      <p:sp>
        <p:nvSpPr>
          <p:cNvPr id="14" name="Shape 12"/>
          <p:cNvSpPr/>
          <p:nvPr/>
        </p:nvSpPr>
        <p:spPr>
          <a:xfrm>
            <a:off x="8138160" y="1920240"/>
            <a:ext cx="3383280" cy="3200400"/>
          </a:xfrm>
          <a:prstGeom prst="roundRect">
            <a:avLst>
              <a:gd name="adj" fmla="val 2286"/>
            </a:avLst>
          </a:prstGeom>
          <a:solidFill>
            <a:srgbClr val="0F1923">
              <a:alpha val="78000"/>
            </a:srgbClr>
          </a:solidFill>
          <a:ln w="9525">
            <a:solidFill>
              <a:srgbClr val="FFFFFF">
                <a:alpha val="20000"/>
              </a:srgbClr>
            </a:solidFill>
            <a:prstDash val="solid"/>
          </a:ln>
        </p:spPr>
      </p:sp>
      <p:sp>
        <p:nvSpPr>
          <p:cNvPr id="15" name="Shape 13"/>
          <p:cNvSpPr/>
          <p:nvPr/>
        </p:nvSpPr>
        <p:spPr>
          <a:xfrm>
            <a:off x="8503920" y="2240280"/>
            <a:ext cx="502920" cy="502920"/>
          </a:xfrm>
          <a:prstGeom prst="ellipse">
            <a:avLst/>
          </a:prstGeom>
          <a:solidFill>
            <a:srgbClr val="FF4655"/>
          </a:solidFill>
          <a:ln w="12700">
            <a:solidFill>
              <a:srgbClr val="FF4655"/>
            </a:solidFill>
            <a:prstDash val="solid"/>
          </a:ln>
        </p:spPr>
      </p:sp>
      <p:sp>
        <p:nvSpPr>
          <p:cNvPr id="16" name="Text 14"/>
          <p:cNvSpPr txBox="1"/>
          <p:nvPr/>
        </p:nvSpPr>
        <p:spPr>
          <a:xfrm>
            <a:off x="8503920" y="2240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03</a:t>
            </a:r>
            <a:endParaRPr lang="en-US" sz="1500" dirty="0"/>
          </a:p>
        </p:txBody>
      </p:sp>
      <p:sp>
        <p:nvSpPr>
          <p:cNvPr id="17" name="Text 15"/>
          <p:cNvSpPr txBox="1"/>
          <p:nvPr/>
        </p:nvSpPr>
        <p:spPr>
          <a:xfrm>
            <a:off x="8503920" y="2834640"/>
            <a:ext cx="2651760" cy="868680"/>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Do some line-ups over-perform?</a:t>
            </a:r>
            <a:endParaRPr lang="en-US" sz="2300" dirty="0"/>
          </a:p>
        </p:txBody>
      </p:sp>
      <p:sp>
        <p:nvSpPr>
          <p:cNvPr id="18" name="Text 16"/>
          <p:cNvSpPr txBox="1"/>
          <p:nvPr/>
        </p:nvSpPr>
        <p:spPr>
          <a:xfrm>
            <a:off x="8503920" y="3794760"/>
            <a:ext cx="2651760" cy="1097280"/>
          </a:xfrm>
          <a:prstGeom prst="rect">
            <a:avLst/>
          </a:prstGeom>
          <a:noFill/>
          <a:ln/>
        </p:spPr>
        <p:txBody>
          <a:bodyPr wrap="square" lIns="0" tIns="0" rIns="0" bIns="0" rtlCol="0" anchor="t"/>
          <a:lstStyle/>
          <a:p>
            <a:pPr indent="0" marL="0">
              <a:buNone/>
            </a:pPr>
            <a:r>
              <a:rPr lang="en-US" sz="2100" dirty="0">
                <a:solidFill>
                  <a:srgbClr val="ECE8E1"/>
                </a:solidFill>
                <a:latin typeface="Calibri" pitchFamily="34" charset="0"/>
                <a:ea typeface="Calibri" pitchFamily="34" charset="-122"/>
                <a:cs typeface="Calibri" pitchFamily="34" charset="-120"/>
              </a:rPr>
              <a:t>Is a combination better than its parts?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2240280"/>
            <a:ext cx="777240" cy="777240"/>
          </a:xfrm>
          <a:prstGeom prst="ellipse">
            <a:avLst/>
          </a:prstGeom>
          <a:solidFill>
            <a:srgbClr val="FF4655"/>
          </a:solidFill>
          <a:ln w="12700">
            <a:solidFill>
              <a:srgbClr val="FF4655"/>
            </a:solidFill>
            <a:prstDash val="solid"/>
          </a:ln>
        </p:spPr>
      </p:sp>
      <p:sp>
        <p:nvSpPr>
          <p:cNvPr id="3" name="Text 1"/>
          <p:cNvSpPr txBox="1"/>
          <p:nvPr/>
        </p:nvSpPr>
        <p:spPr>
          <a:xfrm>
            <a:off x="640080" y="22402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01</a:t>
            </a:r>
            <a:endParaRPr lang="en-US" sz="2400" dirty="0"/>
          </a:p>
        </p:txBody>
      </p:sp>
      <p:sp>
        <p:nvSpPr>
          <p:cNvPr id="4" name="Text 2"/>
          <p:cNvSpPr txBox="1"/>
          <p:nvPr/>
        </p:nvSpPr>
        <p:spPr>
          <a:xfrm>
            <a:off x="640080" y="320040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How it works</a:t>
            </a:r>
            <a:endParaRPr lang="en-US" sz="4400" dirty="0"/>
          </a:p>
        </p:txBody>
      </p:sp>
      <p:sp>
        <p:nvSpPr>
          <p:cNvPr id="5" name="Text 3"/>
          <p:cNvSpPr txBox="1"/>
          <p:nvPr/>
        </p:nvSpPr>
        <p:spPr>
          <a:xfrm>
            <a:off x="640080" y="4160520"/>
            <a:ext cx="5486400" cy="822960"/>
          </a:xfrm>
          <a:prstGeom prst="rect">
            <a:avLst/>
          </a:prstGeom>
          <a:noFill/>
          <a:ln/>
        </p:spPr>
        <p:txBody>
          <a:bodyPr wrap="square" lIns="0" tIns="0" rIns="0" bIns="0" rtlCol="0" anchor="t"/>
          <a:lstStyle/>
          <a:p>
            <a:pPr indent="0" marL="0">
              <a:buNone/>
            </a:pPr>
            <a:r>
              <a:rPr lang="en-US" sz="2000" dirty="0">
                <a:solidFill>
                  <a:srgbClr val="B4BDC6"/>
                </a:solidFill>
                <a:latin typeface="Calibri" pitchFamily="34" charset="0"/>
                <a:ea typeface="Calibri" pitchFamily="34" charset="-122"/>
                <a:cs typeface="Calibri" pitchFamily="34" charset="-120"/>
              </a:rPr>
              <a:t>From two seasons of pro games to a working app.</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From pro games to an app, in six steps</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874520"/>
            <a:ext cx="1630680" cy="2560320"/>
          </a:xfrm>
          <a:prstGeom prst="roundRect">
            <a:avLst>
              <a:gd name="adj" fmla="val 4486"/>
            </a:avLst>
          </a:prstGeom>
          <a:solidFill>
            <a:srgbClr val="0F1923">
              <a:alpha val="78000"/>
            </a:srgbClr>
          </a:solidFill>
          <a:ln w="9525">
            <a:solidFill>
              <a:srgbClr val="FFFFFF">
                <a:alpha val="20000"/>
              </a:srgbClr>
            </a:solidFill>
            <a:prstDash val="solid"/>
          </a:ln>
        </p:spPr>
      </p:sp>
      <p:sp>
        <p:nvSpPr>
          <p:cNvPr id="5" name="Shape 3"/>
          <p:cNvSpPr/>
          <p:nvPr/>
        </p:nvSpPr>
        <p:spPr>
          <a:xfrm>
            <a:off x="841248" y="2075688"/>
            <a:ext cx="438912" cy="438912"/>
          </a:xfrm>
          <a:prstGeom prst="ellipse">
            <a:avLst/>
          </a:prstGeom>
          <a:solidFill>
            <a:srgbClr val="FF4655"/>
          </a:solidFill>
          <a:ln w="12700">
            <a:solidFill>
              <a:srgbClr val="FF4655"/>
            </a:solidFill>
            <a:prstDash val="solid"/>
          </a:ln>
        </p:spPr>
      </p:sp>
      <p:sp>
        <p:nvSpPr>
          <p:cNvPr id="6" name="Text 4"/>
          <p:cNvSpPr txBox="1"/>
          <p:nvPr/>
        </p:nvSpPr>
        <p:spPr>
          <a:xfrm>
            <a:off x="841248" y="20756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841248" y="2624328"/>
            <a:ext cx="1228344"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Collect</a:t>
            </a:r>
            <a:endParaRPr lang="en-US" sz="1800" dirty="0"/>
          </a:p>
        </p:txBody>
      </p:sp>
      <p:sp>
        <p:nvSpPr>
          <p:cNvPr id="8" name="Text 6"/>
          <p:cNvSpPr txBox="1"/>
          <p:nvPr/>
        </p:nvSpPr>
        <p:spPr>
          <a:xfrm>
            <a:off x="841248" y="3044952"/>
            <a:ext cx="1264920" cy="1280160"/>
          </a:xfrm>
          <a:prstGeom prst="rect">
            <a:avLst/>
          </a:prstGeom>
          <a:noFill/>
          <a:ln/>
        </p:spPr>
        <p:txBody>
          <a:bodyPr wrap="square" lIns="0" tIns="0" rIns="0" bIns="0" rtlCol="0" anchor="t"/>
          <a:lstStyle/>
          <a:p>
            <a:pPr indent="0" marL="0">
              <a:buNone/>
            </a:pPr>
            <a:r>
              <a:rPr lang="en-US" sz="1800" dirty="0">
                <a:solidFill>
                  <a:srgbClr val="ECE8E1"/>
                </a:solidFill>
                <a:latin typeface="Calibri" pitchFamily="34" charset="0"/>
                <a:ea typeface="Calibri" pitchFamily="34" charset="-122"/>
                <a:cs typeface="Calibri" pitchFamily="34" charset="-120"/>
              </a:rPr>
              <a:t>2,376 pro games over two seasons</a:t>
            </a:r>
            <a:endParaRPr lang="en-US" sz="1800" dirty="0"/>
          </a:p>
        </p:txBody>
      </p:sp>
      <p:sp>
        <p:nvSpPr>
          <p:cNvPr id="9" name="Shape 7"/>
          <p:cNvSpPr/>
          <p:nvPr/>
        </p:nvSpPr>
        <p:spPr>
          <a:xfrm>
            <a:off x="2325624" y="3035808"/>
            <a:ext cx="109728" cy="237744"/>
          </a:xfrm>
          <a:prstGeom prst="chevron">
            <a:avLst/>
          </a:prstGeom>
          <a:solidFill>
            <a:srgbClr val="FF4655"/>
          </a:solidFill>
          <a:ln w="12700">
            <a:solidFill>
              <a:srgbClr val="333333"/>
            </a:solidFill>
            <a:prstDash val="solid"/>
          </a:ln>
        </p:spPr>
      </p:sp>
      <p:sp>
        <p:nvSpPr>
          <p:cNvPr id="10" name="Shape 8"/>
          <p:cNvSpPr/>
          <p:nvPr/>
        </p:nvSpPr>
        <p:spPr>
          <a:xfrm>
            <a:off x="2490216" y="1874520"/>
            <a:ext cx="1630680" cy="2560320"/>
          </a:xfrm>
          <a:prstGeom prst="roundRect">
            <a:avLst>
              <a:gd name="adj" fmla="val 4486"/>
            </a:avLst>
          </a:prstGeom>
          <a:solidFill>
            <a:srgbClr val="0F1923">
              <a:alpha val="78000"/>
            </a:srgbClr>
          </a:solidFill>
          <a:ln w="9525">
            <a:solidFill>
              <a:srgbClr val="FFFFFF">
                <a:alpha val="20000"/>
              </a:srgbClr>
            </a:solidFill>
            <a:prstDash val="solid"/>
          </a:ln>
        </p:spPr>
      </p:sp>
      <p:sp>
        <p:nvSpPr>
          <p:cNvPr id="11" name="Shape 9"/>
          <p:cNvSpPr/>
          <p:nvPr/>
        </p:nvSpPr>
        <p:spPr>
          <a:xfrm>
            <a:off x="2691384" y="2075688"/>
            <a:ext cx="438912" cy="438912"/>
          </a:xfrm>
          <a:prstGeom prst="ellipse">
            <a:avLst/>
          </a:prstGeom>
          <a:solidFill>
            <a:srgbClr val="FF4655"/>
          </a:solidFill>
          <a:ln w="12700">
            <a:solidFill>
              <a:srgbClr val="FF4655"/>
            </a:solidFill>
            <a:prstDash val="solid"/>
          </a:ln>
        </p:spPr>
      </p:sp>
      <p:sp>
        <p:nvSpPr>
          <p:cNvPr id="12" name="Text 10"/>
          <p:cNvSpPr txBox="1"/>
          <p:nvPr/>
        </p:nvSpPr>
        <p:spPr>
          <a:xfrm>
            <a:off x="2691384" y="20756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3" name="Text 11"/>
          <p:cNvSpPr txBox="1"/>
          <p:nvPr/>
        </p:nvSpPr>
        <p:spPr>
          <a:xfrm>
            <a:off x="2691384" y="2624328"/>
            <a:ext cx="1228344"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Clean</a:t>
            </a:r>
            <a:endParaRPr lang="en-US" sz="1800" dirty="0"/>
          </a:p>
        </p:txBody>
      </p:sp>
      <p:sp>
        <p:nvSpPr>
          <p:cNvPr id="14" name="Text 12"/>
          <p:cNvSpPr txBox="1"/>
          <p:nvPr/>
        </p:nvSpPr>
        <p:spPr>
          <a:xfrm>
            <a:off x="2691384" y="3044952"/>
            <a:ext cx="1264920" cy="1280160"/>
          </a:xfrm>
          <a:prstGeom prst="rect">
            <a:avLst/>
          </a:prstGeom>
          <a:noFill/>
          <a:ln/>
        </p:spPr>
        <p:txBody>
          <a:bodyPr wrap="square" lIns="0" tIns="0" rIns="0" bIns="0" rtlCol="0" anchor="t"/>
          <a:lstStyle/>
          <a:p>
            <a:pPr indent="0" marL="0">
              <a:buNone/>
            </a:pPr>
            <a:r>
              <a:rPr lang="en-US" sz="1800" dirty="0">
                <a:solidFill>
                  <a:srgbClr val="ECE8E1"/>
                </a:solidFill>
                <a:latin typeface="Calibri" pitchFamily="34" charset="0"/>
                <a:ea typeface="Calibri" pitchFamily="34" charset="-122"/>
                <a:cs typeface="Calibri" pitchFamily="34" charset="-120"/>
              </a:rPr>
              <a:t>Fixed 3 errors that fail silently</a:t>
            </a:r>
            <a:endParaRPr lang="en-US" sz="1800" dirty="0"/>
          </a:p>
        </p:txBody>
      </p:sp>
      <p:sp>
        <p:nvSpPr>
          <p:cNvPr id="15" name="Shape 13"/>
          <p:cNvSpPr/>
          <p:nvPr/>
        </p:nvSpPr>
        <p:spPr>
          <a:xfrm>
            <a:off x="4175760" y="3035808"/>
            <a:ext cx="109728" cy="237744"/>
          </a:xfrm>
          <a:prstGeom prst="chevron">
            <a:avLst/>
          </a:prstGeom>
          <a:solidFill>
            <a:srgbClr val="FF4655"/>
          </a:solidFill>
          <a:ln w="12700">
            <a:solidFill>
              <a:srgbClr val="333333"/>
            </a:solidFill>
            <a:prstDash val="solid"/>
          </a:ln>
        </p:spPr>
      </p:sp>
      <p:sp>
        <p:nvSpPr>
          <p:cNvPr id="16" name="Shape 14"/>
          <p:cNvSpPr/>
          <p:nvPr/>
        </p:nvSpPr>
        <p:spPr>
          <a:xfrm>
            <a:off x="4340352" y="1874520"/>
            <a:ext cx="1630680" cy="2560320"/>
          </a:xfrm>
          <a:prstGeom prst="roundRect">
            <a:avLst>
              <a:gd name="adj" fmla="val 4486"/>
            </a:avLst>
          </a:prstGeom>
          <a:solidFill>
            <a:srgbClr val="0F1923">
              <a:alpha val="78000"/>
            </a:srgbClr>
          </a:solidFill>
          <a:ln w="9525">
            <a:solidFill>
              <a:srgbClr val="FFFFFF">
                <a:alpha val="20000"/>
              </a:srgbClr>
            </a:solidFill>
            <a:prstDash val="solid"/>
          </a:ln>
        </p:spPr>
      </p:sp>
      <p:sp>
        <p:nvSpPr>
          <p:cNvPr id="17" name="Shape 15"/>
          <p:cNvSpPr/>
          <p:nvPr/>
        </p:nvSpPr>
        <p:spPr>
          <a:xfrm>
            <a:off x="4541520" y="2075688"/>
            <a:ext cx="438912" cy="438912"/>
          </a:xfrm>
          <a:prstGeom prst="ellipse">
            <a:avLst/>
          </a:prstGeom>
          <a:solidFill>
            <a:srgbClr val="FF4655"/>
          </a:solidFill>
          <a:ln w="12700">
            <a:solidFill>
              <a:srgbClr val="FF4655"/>
            </a:solidFill>
            <a:prstDash val="solid"/>
          </a:ln>
        </p:spPr>
      </p:sp>
      <p:sp>
        <p:nvSpPr>
          <p:cNvPr id="18" name="Text 16"/>
          <p:cNvSpPr txBox="1"/>
          <p:nvPr/>
        </p:nvSpPr>
        <p:spPr>
          <a:xfrm>
            <a:off x="4541520" y="20756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9" name="Text 17"/>
          <p:cNvSpPr txBox="1"/>
          <p:nvPr/>
        </p:nvSpPr>
        <p:spPr>
          <a:xfrm>
            <a:off x="4541520" y="2624328"/>
            <a:ext cx="1228344"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Frame</a:t>
            </a:r>
            <a:endParaRPr lang="en-US" sz="1800" dirty="0"/>
          </a:p>
        </p:txBody>
      </p:sp>
      <p:sp>
        <p:nvSpPr>
          <p:cNvPr id="20" name="Text 18"/>
          <p:cNvSpPr txBox="1"/>
          <p:nvPr/>
        </p:nvSpPr>
        <p:spPr>
          <a:xfrm>
            <a:off x="4541520" y="3044952"/>
            <a:ext cx="1264920" cy="1280160"/>
          </a:xfrm>
          <a:prstGeom prst="rect">
            <a:avLst/>
          </a:prstGeom>
          <a:noFill/>
          <a:ln/>
        </p:spPr>
        <p:txBody>
          <a:bodyPr wrap="square" lIns="0" tIns="0" rIns="0" bIns="0" rtlCol="0" anchor="t"/>
          <a:lstStyle/>
          <a:p>
            <a:pPr indent="0" marL="0">
              <a:buNone/>
            </a:pPr>
            <a:r>
              <a:rPr lang="en-US" sz="1800" dirty="0">
                <a:solidFill>
                  <a:srgbClr val="ECE8E1"/>
                </a:solidFill>
                <a:latin typeface="Calibri" pitchFamily="34" charset="0"/>
                <a:ea typeface="Calibri" pitchFamily="34" charset="-122"/>
                <a:cs typeface="Calibri" pitchFamily="34" charset="-120"/>
              </a:rPr>
              <a:t>Hide one agent: which completes the line-up?</a:t>
            </a:r>
            <a:endParaRPr lang="en-US" sz="1800" dirty="0"/>
          </a:p>
        </p:txBody>
      </p:sp>
      <p:sp>
        <p:nvSpPr>
          <p:cNvPr id="21" name="Shape 19"/>
          <p:cNvSpPr/>
          <p:nvPr/>
        </p:nvSpPr>
        <p:spPr>
          <a:xfrm>
            <a:off x="6025896" y="3035808"/>
            <a:ext cx="109728" cy="237744"/>
          </a:xfrm>
          <a:prstGeom prst="chevron">
            <a:avLst/>
          </a:prstGeom>
          <a:solidFill>
            <a:srgbClr val="FF4655"/>
          </a:solidFill>
          <a:ln w="12700">
            <a:solidFill>
              <a:srgbClr val="333333"/>
            </a:solidFill>
            <a:prstDash val="solid"/>
          </a:ln>
        </p:spPr>
      </p:sp>
      <p:sp>
        <p:nvSpPr>
          <p:cNvPr id="22" name="Shape 20"/>
          <p:cNvSpPr/>
          <p:nvPr/>
        </p:nvSpPr>
        <p:spPr>
          <a:xfrm>
            <a:off x="6190488" y="1874520"/>
            <a:ext cx="1630680" cy="2560320"/>
          </a:xfrm>
          <a:prstGeom prst="roundRect">
            <a:avLst>
              <a:gd name="adj" fmla="val 4486"/>
            </a:avLst>
          </a:prstGeom>
          <a:solidFill>
            <a:srgbClr val="3A1720">
              <a:alpha val="88000"/>
            </a:srgbClr>
          </a:solidFill>
          <a:ln w="12700">
            <a:solidFill>
              <a:srgbClr val="FF4655">
                <a:alpha val="75000"/>
              </a:srgbClr>
            </a:solidFill>
            <a:prstDash val="solid"/>
          </a:ln>
        </p:spPr>
      </p:sp>
      <p:sp>
        <p:nvSpPr>
          <p:cNvPr id="23" name="Shape 21"/>
          <p:cNvSpPr/>
          <p:nvPr/>
        </p:nvSpPr>
        <p:spPr>
          <a:xfrm>
            <a:off x="6391656" y="2075688"/>
            <a:ext cx="438912" cy="438912"/>
          </a:xfrm>
          <a:prstGeom prst="ellipse">
            <a:avLst/>
          </a:prstGeom>
          <a:solidFill>
            <a:srgbClr val="FF4655"/>
          </a:solidFill>
          <a:ln w="12700">
            <a:solidFill>
              <a:srgbClr val="FF4655"/>
            </a:solidFill>
            <a:prstDash val="solid"/>
          </a:ln>
        </p:spPr>
      </p:sp>
      <p:sp>
        <p:nvSpPr>
          <p:cNvPr id="24" name="Text 22"/>
          <p:cNvSpPr txBox="1"/>
          <p:nvPr/>
        </p:nvSpPr>
        <p:spPr>
          <a:xfrm>
            <a:off x="6391656" y="20756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25" name="Text 23"/>
          <p:cNvSpPr txBox="1"/>
          <p:nvPr/>
        </p:nvSpPr>
        <p:spPr>
          <a:xfrm>
            <a:off x="6391656" y="2624328"/>
            <a:ext cx="1228344"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Learn</a:t>
            </a:r>
            <a:endParaRPr lang="en-US" sz="1800" dirty="0"/>
          </a:p>
        </p:txBody>
      </p:sp>
      <p:sp>
        <p:nvSpPr>
          <p:cNvPr id="26" name="Text 24"/>
          <p:cNvSpPr txBox="1"/>
          <p:nvPr/>
        </p:nvSpPr>
        <p:spPr>
          <a:xfrm>
            <a:off x="6391656" y="3044952"/>
            <a:ext cx="1264920" cy="1280160"/>
          </a:xfrm>
          <a:prstGeom prst="rect">
            <a:avLst/>
          </a:prstGeom>
          <a:noFill/>
          <a:ln/>
        </p:spPr>
        <p:txBody>
          <a:bodyPr wrap="square" lIns="0" tIns="0" rIns="0" bIns="0" rtlCol="0" anchor="t"/>
          <a:lstStyle/>
          <a:p>
            <a:pPr indent="0" marL="0">
              <a:buNone/>
            </a:pPr>
            <a:r>
              <a:rPr lang="en-US" sz="1800" dirty="0">
                <a:solidFill>
                  <a:srgbClr val="ECE8E1"/>
                </a:solidFill>
                <a:latin typeface="Calibri" pitchFamily="34" charset="0"/>
                <a:ea typeface="Calibri" pitchFamily="34" charset="-122"/>
                <a:cs typeface="Calibri" pitchFamily="34" charset="-120"/>
              </a:rPr>
              <a:t>Gradient boosting: which agents go together</a:t>
            </a:r>
            <a:endParaRPr lang="en-US" sz="1800" dirty="0"/>
          </a:p>
        </p:txBody>
      </p:sp>
      <p:sp>
        <p:nvSpPr>
          <p:cNvPr id="27" name="Shape 25"/>
          <p:cNvSpPr/>
          <p:nvPr/>
        </p:nvSpPr>
        <p:spPr>
          <a:xfrm>
            <a:off x="7876032" y="3035808"/>
            <a:ext cx="109728" cy="237744"/>
          </a:xfrm>
          <a:prstGeom prst="chevron">
            <a:avLst/>
          </a:prstGeom>
          <a:solidFill>
            <a:srgbClr val="FF4655"/>
          </a:solidFill>
          <a:ln w="12700">
            <a:solidFill>
              <a:srgbClr val="333333"/>
            </a:solidFill>
            <a:prstDash val="solid"/>
          </a:ln>
        </p:spPr>
      </p:sp>
      <p:sp>
        <p:nvSpPr>
          <p:cNvPr id="28" name="Shape 26"/>
          <p:cNvSpPr/>
          <p:nvPr/>
        </p:nvSpPr>
        <p:spPr>
          <a:xfrm>
            <a:off x="8040624" y="1874520"/>
            <a:ext cx="1630680" cy="2560320"/>
          </a:xfrm>
          <a:prstGeom prst="roundRect">
            <a:avLst>
              <a:gd name="adj" fmla="val 4486"/>
            </a:avLst>
          </a:prstGeom>
          <a:solidFill>
            <a:srgbClr val="0F1923">
              <a:alpha val="78000"/>
            </a:srgbClr>
          </a:solidFill>
          <a:ln w="9525">
            <a:solidFill>
              <a:srgbClr val="FFFFFF">
                <a:alpha val="20000"/>
              </a:srgbClr>
            </a:solidFill>
            <a:prstDash val="solid"/>
          </a:ln>
        </p:spPr>
      </p:sp>
      <p:sp>
        <p:nvSpPr>
          <p:cNvPr id="29" name="Shape 27"/>
          <p:cNvSpPr/>
          <p:nvPr/>
        </p:nvSpPr>
        <p:spPr>
          <a:xfrm>
            <a:off x="8241792" y="2075688"/>
            <a:ext cx="438912" cy="438912"/>
          </a:xfrm>
          <a:prstGeom prst="ellipse">
            <a:avLst/>
          </a:prstGeom>
          <a:solidFill>
            <a:srgbClr val="FF4655"/>
          </a:solidFill>
          <a:ln w="12700">
            <a:solidFill>
              <a:srgbClr val="FF4655"/>
            </a:solidFill>
            <a:prstDash val="solid"/>
          </a:ln>
        </p:spPr>
      </p:sp>
      <p:sp>
        <p:nvSpPr>
          <p:cNvPr id="30" name="Text 28"/>
          <p:cNvSpPr txBox="1"/>
          <p:nvPr/>
        </p:nvSpPr>
        <p:spPr>
          <a:xfrm>
            <a:off x="8241792" y="20756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31" name="Text 29"/>
          <p:cNvSpPr txBox="1"/>
          <p:nvPr/>
        </p:nvSpPr>
        <p:spPr>
          <a:xfrm>
            <a:off x="8241792" y="2624328"/>
            <a:ext cx="1228344"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Test</a:t>
            </a:r>
            <a:endParaRPr lang="en-US" sz="1800" dirty="0"/>
          </a:p>
        </p:txBody>
      </p:sp>
      <p:sp>
        <p:nvSpPr>
          <p:cNvPr id="32" name="Text 30"/>
          <p:cNvSpPr txBox="1"/>
          <p:nvPr/>
        </p:nvSpPr>
        <p:spPr>
          <a:xfrm>
            <a:off x="8241792" y="3044952"/>
            <a:ext cx="1264920" cy="1280160"/>
          </a:xfrm>
          <a:prstGeom prst="rect">
            <a:avLst/>
          </a:prstGeom>
          <a:noFill/>
          <a:ln/>
        </p:spPr>
        <p:txBody>
          <a:bodyPr wrap="square" lIns="0" tIns="0" rIns="0" bIns="0" rtlCol="0" anchor="t"/>
          <a:lstStyle/>
          <a:p>
            <a:pPr indent="0" marL="0">
              <a:buNone/>
            </a:pPr>
            <a:r>
              <a:rPr lang="en-US" sz="1800" dirty="0">
                <a:solidFill>
                  <a:srgbClr val="ECE8E1"/>
                </a:solidFill>
                <a:latin typeface="Calibri" pitchFamily="34" charset="0"/>
                <a:ea typeface="Calibri" pitchFamily="34" charset="-122"/>
                <a:cs typeface="Calibri" pitchFamily="34" charset="-120"/>
              </a:rPr>
              <a:t>Week by week, earlier games only</a:t>
            </a:r>
            <a:endParaRPr lang="en-US" sz="1800" dirty="0"/>
          </a:p>
        </p:txBody>
      </p:sp>
      <p:sp>
        <p:nvSpPr>
          <p:cNvPr id="33" name="Shape 31"/>
          <p:cNvSpPr/>
          <p:nvPr/>
        </p:nvSpPr>
        <p:spPr>
          <a:xfrm>
            <a:off x="9726168" y="3035808"/>
            <a:ext cx="109728" cy="237744"/>
          </a:xfrm>
          <a:prstGeom prst="chevron">
            <a:avLst/>
          </a:prstGeom>
          <a:solidFill>
            <a:srgbClr val="FF4655"/>
          </a:solidFill>
          <a:ln w="12700">
            <a:solidFill>
              <a:srgbClr val="333333"/>
            </a:solidFill>
            <a:prstDash val="solid"/>
          </a:ln>
        </p:spPr>
      </p:sp>
      <p:sp>
        <p:nvSpPr>
          <p:cNvPr id="34" name="Shape 32"/>
          <p:cNvSpPr/>
          <p:nvPr/>
        </p:nvSpPr>
        <p:spPr>
          <a:xfrm>
            <a:off x="9890760" y="1874520"/>
            <a:ext cx="1630680" cy="2560320"/>
          </a:xfrm>
          <a:prstGeom prst="roundRect">
            <a:avLst>
              <a:gd name="adj" fmla="val 4486"/>
            </a:avLst>
          </a:prstGeom>
          <a:solidFill>
            <a:srgbClr val="0F1923">
              <a:alpha val="78000"/>
            </a:srgbClr>
          </a:solidFill>
          <a:ln w="9525">
            <a:solidFill>
              <a:srgbClr val="FFFFFF">
                <a:alpha val="20000"/>
              </a:srgbClr>
            </a:solidFill>
            <a:prstDash val="solid"/>
          </a:ln>
        </p:spPr>
      </p:sp>
      <p:sp>
        <p:nvSpPr>
          <p:cNvPr id="35" name="Shape 33"/>
          <p:cNvSpPr/>
          <p:nvPr/>
        </p:nvSpPr>
        <p:spPr>
          <a:xfrm>
            <a:off x="10091928" y="2075688"/>
            <a:ext cx="438912" cy="438912"/>
          </a:xfrm>
          <a:prstGeom prst="ellipse">
            <a:avLst/>
          </a:prstGeom>
          <a:solidFill>
            <a:srgbClr val="FF4655"/>
          </a:solidFill>
          <a:ln w="12700">
            <a:solidFill>
              <a:srgbClr val="FF4655"/>
            </a:solidFill>
            <a:prstDash val="solid"/>
          </a:ln>
        </p:spPr>
      </p:sp>
      <p:sp>
        <p:nvSpPr>
          <p:cNvPr id="36" name="Text 34"/>
          <p:cNvSpPr txBox="1"/>
          <p:nvPr/>
        </p:nvSpPr>
        <p:spPr>
          <a:xfrm>
            <a:off x="10091928" y="20756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37" name="Text 35"/>
          <p:cNvSpPr txBox="1"/>
          <p:nvPr/>
        </p:nvSpPr>
        <p:spPr>
          <a:xfrm>
            <a:off x="10091928" y="2624328"/>
            <a:ext cx="1228344"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Show</a:t>
            </a:r>
            <a:endParaRPr lang="en-US" sz="1800" dirty="0"/>
          </a:p>
        </p:txBody>
      </p:sp>
      <p:sp>
        <p:nvSpPr>
          <p:cNvPr id="38" name="Text 36"/>
          <p:cNvSpPr txBox="1"/>
          <p:nvPr/>
        </p:nvSpPr>
        <p:spPr>
          <a:xfrm>
            <a:off x="10091928" y="3044952"/>
            <a:ext cx="1264920" cy="1280160"/>
          </a:xfrm>
          <a:prstGeom prst="rect">
            <a:avLst/>
          </a:prstGeom>
          <a:noFill/>
          <a:ln/>
        </p:spPr>
        <p:txBody>
          <a:bodyPr wrap="square" lIns="0" tIns="0" rIns="0" bIns="0" rtlCol="0" anchor="t"/>
          <a:lstStyle/>
          <a:p>
            <a:pPr indent="0" marL="0">
              <a:buNone/>
            </a:pPr>
            <a:r>
              <a:rPr lang="en-US" sz="1800" dirty="0">
                <a:solidFill>
                  <a:srgbClr val="ECE8E1"/>
                </a:solidFill>
                <a:latin typeface="Calibri" pitchFamily="34" charset="0"/>
                <a:ea typeface="Calibri" pitchFamily="34" charset="-122"/>
                <a:cs typeface="Calibri" pitchFamily="34" charset="-120"/>
              </a:rPr>
              <a:t>A three-page Streamlit app</a:t>
            </a:r>
            <a:endParaRPr lang="en-US" sz="1800" dirty="0"/>
          </a:p>
        </p:txBody>
      </p:sp>
      <p:sp>
        <p:nvSpPr>
          <p:cNvPr id="39" name="Shape 37"/>
          <p:cNvSpPr/>
          <p:nvPr/>
        </p:nvSpPr>
        <p:spPr>
          <a:xfrm>
            <a:off x="640080" y="4709160"/>
            <a:ext cx="3794760" cy="1508760"/>
          </a:xfrm>
          <a:prstGeom prst="roundRect">
            <a:avLst>
              <a:gd name="adj" fmla="val 4848"/>
            </a:avLst>
          </a:prstGeom>
          <a:solidFill>
            <a:srgbClr val="0F1923">
              <a:alpha val="78000"/>
            </a:srgbClr>
          </a:solidFill>
          <a:ln w="9525">
            <a:solidFill>
              <a:srgbClr val="FFFFFF">
                <a:alpha val="20000"/>
              </a:srgbClr>
            </a:solidFill>
            <a:prstDash val="solid"/>
          </a:ln>
        </p:spPr>
      </p:sp>
      <p:sp>
        <p:nvSpPr>
          <p:cNvPr id="40" name="Text 38"/>
          <p:cNvSpPr txBox="1"/>
          <p:nvPr/>
        </p:nvSpPr>
        <p:spPr>
          <a:xfrm>
            <a:off x="896112" y="4910328"/>
            <a:ext cx="328269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BUILT WITH</a:t>
            </a:r>
            <a:endParaRPr lang="en-US" sz="1300" dirty="0"/>
          </a:p>
        </p:txBody>
      </p:sp>
      <p:sp>
        <p:nvSpPr>
          <p:cNvPr id="41" name="Text 39"/>
          <p:cNvSpPr txBox="1"/>
          <p:nvPr/>
        </p:nvSpPr>
        <p:spPr>
          <a:xfrm>
            <a:off x="896112" y="5312664"/>
            <a:ext cx="3282696" cy="685800"/>
          </a:xfrm>
          <a:prstGeom prst="rect">
            <a:avLst/>
          </a:prstGeom>
          <a:noFill/>
          <a:ln/>
        </p:spPr>
        <p:txBody>
          <a:bodyPr wrap="square" lIns="0" tIns="0" rIns="0" bIns="0" rtlCol="0" anchor="t"/>
          <a:lstStyle/>
          <a:p>
            <a:pPr indent="0" marL="0">
              <a:buNone/>
            </a:pPr>
            <a:r>
              <a:rPr lang="en-US" sz="1700" b="1" dirty="0">
                <a:solidFill>
                  <a:srgbClr val="ECE8E1"/>
                </a:solidFill>
                <a:latin typeface="Calibri" pitchFamily="34" charset="0"/>
                <a:ea typeface="Calibri" pitchFamily="34" charset="-122"/>
                <a:cs typeface="Calibri" pitchFamily="34" charset="-120"/>
              </a:rPr>
              <a:t>Python, pandas, scikit-learn, Streamlit</a:t>
            </a:r>
            <a:endParaRPr lang="en-US" sz="1700" dirty="0"/>
          </a:p>
          <a:p>
            <a:pPr indent="0" marL="0">
              <a:buNone/>
            </a:pPr>
            <a:r>
              <a:rPr lang="en-US" sz="1700" dirty="0">
                <a:solidFill>
                  <a:srgbClr val="ECE8E1"/>
                </a:solidFill>
                <a:latin typeface="Calibri" pitchFamily="34" charset="0"/>
                <a:ea typeface="Calibri" pitchFamily="34" charset="-122"/>
                <a:cs typeface="Calibri" pitchFamily="34" charset="-120"/>
              </a:rPr>
              <a:t>Data: Kaggle, from vlr.gg</a:t>
            </a:r>
            <a:endParaRPr lang="en-US" sz="1700" dirty="0"/>
          </a:p>
        </p:txBody>
      </p:sp>
      <p:sp>
        <p:nvSpPr>
          <p:cNvPr id="42" name="Shape 40"/>
          <p:cNvSpPr/>
          <p:nvPr/>
        </p:nvSpPr>
        <p:spPr>
          <a:xfrm>
            <a:off x="4690872" y="4690872"/>
            <a:ext cx="2185416" cy="1379601"/>
          </a:xfrm>
          <a:prstGeom prst="rect">
            <a:avLst/>
          </a:prstGeom>
          <a:solidFill>
            <a:srgbClr val="0F1923"/>
          </a:solidFill>
          <a:ln w="9525">
            <a:solidFill>
              <a:srgbClr val="FFFFFF">
                <a:alpha val="30000"/>
              </a:srgbClr>
            </a:solidFill>
            <a:prstDash val="solid"/>
          </a:ln>
        </p:spPr>
      </p:sp>
      <p:pic>
        <p:nvPicPr>
          <p:cNvPr id="43" name="Image 0" descr="The agent recommender page">    </p:cNvPr>
          <p:cNvPicPr>
            <a:picLocks noChangeAspect="1"/>
          </p:cNvPicPr>
          <p:nvPr/>
        </p:nvPicPr>
        <p:blipFill>
          <a:blip r:embed="rId2"/>
          <a:stretch>
            <a:fillRect/>
          </a:stretch>
        </p:blipFill>
        <p:spPr>
          <a:xfrm>
            <a:off x="4709160" y="4709160"/>
            <a:ext cx="2148840" cy="1343025"/>
          </a:xfrm>
          <a:prstGeom prst="rect">
            <a:avLst/>
          </a:prstGeom>
        </p:spPr>
      </p:pic>
      <p:sp>
        <p:nvSpPr>
          <p:cNvPr id="44" name="Text 41"/>
          <p:cNvSpPr txBox="1"/>
          <p:nvPr/>
        </p:nvSpPr>
        <p:spPr>
          <a:xfrm>
            <a:off x="4709160" y="6107049"/>
            <a:ext cx="2148840" cy="274320"/>
          </a:xfrm>
          <a:prstGeom prst="rect">
            <a:avLst/>
          </a:prstGeom>
          <a:noFill/>
          <a:ln/>
        </p:spPr>
        <p:txBody>
          <a:bodyPr wrap="square" lIns="0" tIns="0" rIns="0" bIns="0" rtlCol="0" anchor="ctr"/>
          <a:lstStyle/>
          <a:p>
            <a:pPr indent="0" marL="0">
              <a:buNone/>
            </a:pPr>
            <a:r>
              <a:rPr lang="en-US" sz="1200" dirty="0">
                <a:solidFill>
                  <a:srgbClr val="B4BDC6"/>
                </a:solidFill>
                <a:latin typeface="Courier New" pitchFamily="34" charset="0"/>
                <a:ea typeface="Courier New" pitchFamily="34" charset="-122"/>
                <a:cs typeface="Courier New" pitchFamily="34" charset="-120"/>
              </a:rPr>
              <a:t>Agent recommender</a:t>
            </a:r>
            <a:endParaRPr lang="en-US" sz="1200" dirty="0"/>
          </a:p>
        </p:txBody>
      </p:sp>
      <p:sp>
        <p:nvSpPr>
          <p:cNvPr id="45" name="Shape 42"/>
          <p:cNvSpPr/>
          <p:nvPr/>
        </p:nvSpPr>
        <p:spPr>
          <a:xfrm>
            <a:off x="7022592" y="4690872"/>
            <a:ext cx="2185416" cy="1379601"/>
          </a:xfrm>
          <a:prstGeom prst="rect">
            <a:avLst/>
          </a:prstGeom>
          <a:solidFill>
            <a:srgbClr val="0F1923"/>
          </a:solidFill>
          <a:ln w="9525">
            <a:solidFill>
              <a:srgbClr val="FFFFFF">
                <a:alpha val="30000"/>
              </a:srgbClr>
            </a:solidFill>
            <a:prstDash val="solid"/>
          </a:ln>
        </p:spPr>
      </p:sp>
      <p:pic>
        <p:nvPicPr>
          <p:cNvPr id="46" name="Image 1" descr="The How the meta moved page">    </p:cNvPr>
          <p:cNvPicPr>
            <a:picLocks noChangeAspect="1"/>
          </p:cNvPicPr>
          <p:nvPr/>
        </p:nvPicPr>
        <p:blipFill>
          <a:blip r:embed="rId3"/>
          <a:stretch>
            <a:fillRect/>
          </a:stretch>
        </p:blipFill>
        <p:spPr>
          <a:xfrm>
            <a:off x="7040880" y="4709160"/>
            <a:ext cx="2148840" cy="1343025"/>
          </a:xfrm>
          <a:prstGeom prst="rect">
            <a:avLst/>
          </a:prstGeom>
        </p:spPr>
      </p:pic>
      <p:sp>
        <p:nvSpPr>
          <p:cNvPr id="47" name="Text 43"/>
          <p:cNvSpPr txBox="1"/>
          <p:nvPr/>
        </p:nvSpPr>
        <p:spPr>
          <a:xfrm>
            <a:off x="7040880" y="6107049"/>
            <a:ext cx="2148840" cy="274320"/>
          </a:xfrm>
          <a:prstGeom prst="rect">
            <a:avLst/>
          </a:prstGeom>
          <a:noFill/>
          <a:ln/>
        </p:spPr>
        <p:txBody>
          <a:bodyPr wrap="square" lIns="0" tIns="0" rIns="0" bIns="0" rtlCol="0" anchor="ctr"/>
          <a:lstStyle/>
          <a:p>
            <a:pPr indent="0" marL="0">
              <a:buNone/>
            </a:pPr>
            <a:r>
              <a:rPr lang="en-US" sz="1200" dirty="0">
                <a:solidFill>
                  <a:srgbClr val="B4BDC6"/>
                </a:solidFill>
                <a:latin typeface="Courier New" pitchFamily="34" charset="0"/>
                <a:ea typeface="Courier New" pitchFamily="34" charset="-122"/>
                <a:cs typeface="Courier New" pitchFamily="34" charset="-120"/>
              </a:rPr>
              <a:t>How the meta moved</a:t>
            </a:r>
            <a:endParaRPr lang="en-US" sz="1200" dirty="0"/>
          </a:p>
        </p:txBody>
      </p:sp>
      <p:sp>
        <p:nvSpPr>
          <p:cNvPr id="48" name="Shape 44"/>
          <p:cNvSpPr/>
          <p:nvPr/>
        </p:nvSpPr>
        <p:spPr>
          <a:xfrm>
            <a:off x="9354312" y="4690872"/>
            <a:ext cx="2185416" cy="1379601"/>
          </a:xfrm>
          <a:prstGeom prst="rect">
            <a:avLst/>
          </a:prstGeom>
          <a:solidFill>
            <a:srgbClr val="0F1923"/>
          </a:solidFill>
          <a:ln w="9525">
            <a:solidFill>
              <a:srgbClr val="FFFFFF">
                <a:alpha val="30000"/>
              </a:srgbClr>
            </a:solidFill>
            <a:prstDash val="solid"/>
          </a:ln>
        </p:spPr>
      </p:sp>
      <p:pic>
        <p:nvPicPr>
          <p:cNvPr id="49" name="Image 2" descr="The win predictor page">    </p:cNvPr>
          <p:cNvPicPr>
            <a:picLocks noChangeAspect="1"/>
          </p:cNvPicPr>
          <p:nvPr/>
        </p:nvPicPr>
        <p:blipFill>
          <a:blip r:embed="rId4"/>
          <a:stretch>
            <a:fillRect/>
          </a:stretch>
        </p:blipFill>
        <p:spPr>
          <a:xfrm>
            <a:off x="9372600" y="4709160"/>
            <a:ext cx="2148840" cy="1343025"/>
          </a:xfrm>
          <a:prstGeom prst="rect">
            <a:avLst/>
          </a:prstGeom>
        </p:spPr>
      </p:pic>
      <p:sp>
        <p:nvSpPr>
          <p:cNvPr id="50" name="Text 45"/>
          <p:cNvSpPr txBox="1"/>
          <p:nvPr/>
        </p:nvSpPr>
        <p:spPr>
          <a:xfrm>
            <a:off x="9372600" y="6107049"/>
            <a:ext cx="2148840" cy="274320"/>
          </a:xfrm>
          <a:prstGeom prst="rect">
            <a:avLst/>
          </a:prstGeom>
          <a:noFill/>
          <a:ln/>
        </p:spPr>
        <p:txBody>
          <a:bodyPr wrap="square" lIns="0" tIns="0" rIns="0" bIns="0" rtlCol="0" anchor="ctr"/>
          <a:lstStyle/>
          <a:p>
            <a:pPr indent="0" marL="0">
              <a:buNone/>
            </a:pPr>
            <a:r>
              <a:rPr lang="en-US" sz="1200" dirty="0">
                <a:solidFill>
                  <a:srgbClr val="B4BDC6"/>
                </a:solidFill>
                <a:latin typeface="Courier New" pitchFamily="34" charset="0"/>
                <a:ea typeface="Courier New" pitchFamily="34" charset="-122"/>
                <a:cs typeface="Courier New" pitchFamily="34" charset="-120"/>
              </a:rPr>
              <a:t>Win predictor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task</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Text 2"/>
          <p:cNvSpPr txBox="1"/>
          <p:nvPr/>
        </p:nvSpPr>
        <p:spPr>
          <a:xfrm>
            <a:off x="640080" y="1874520"/>
            <a:ext cx="3657600" cy="320040"/>
          </a:xfrm>
          <a:prstGeom prst="rect">
            <a:avLst/>
          </a:prstGeom>
          <a:noFill/>
          <a:ln/>
        </p:spPr>
        <p:txBody>
          <a:bodyPr wrap="square" lIns="0" tIns="0" rIns="0" bIns="0" rtlCol="0" anchor="ctr"/>
          <a:lstStyle/>
          <a:p>
            <a:pPr indent="0" marL="0">
              <a:buNone/>
            </a:pPr>
            <a:r>
              <a:rPr lang="en-US" sz="1400" spc="200" kern="0" dirty="0">
                <a:solidFill>
                  <a:srgbClr val="FF4655"/>
                </a:solidFill>
                <a:latin typeface="Courier New" pitchFamily="34" charset="0"/>
                <a:ea typeface="Courier New" pitchFamily="34" charset="-122"/>
                <a:cs typeface="Courier New" pitchFamily="34" charset="-120"/>
              </a:rPr>
              <a:t>MAP: ICEBOX</a:t>
            </a:r>
            <a:endParaRPr lang="en-US" sz="1400" dirty="0"/>
          </a:p>
        </p:txBody>
      </p:sp>
      <p:sp>
        <p:nvSpPr>
          <p:cNvPr id="5" name="Shape 3"/>
          <p:cNvSpPr/>
          <p:nvPr/>
        </p:nvSpPr>
        <p:spPr>
          <a:xfrm>
            <a:off x="64008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6" name="Text 4"/>
          <p:cNvSpPr txBox="1"/>
          <p:nvPr/>
        </p:nvSpPr>
        <p:spPr>
          <a:xfrm>
            <a:off x="64008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7" name="Image 0" descr="Viper">    </p:cNvPr>
          <p:cNvPicPr>
            <a:picLocks noChangeAspect="1"/>
          </p:cNvPicPr>
          <p:nvPr/>
        </p:nvPicPr>
        <p:blipFill>
          <a:blip r:embed="rId2"/>
          <a:stretch>
            <a:fillRect/>
          </a:stretch>
        </p:blipFill>
        <p:spPr>
          <a:xfrm>
            <a:off x="694944" y="2322576"/>
            <a:ext cx="457200" cy="457200"/>
          </a:xfrm>
          <a:prstGeom prst="rect">
            <a:avLst/>
          </a:prstGeom>
        </p:spPr>
      </p:pic>
      <p:sp>
        <p:nvSpPr>
          <p:cNvPr id="8" name="Text 5"/>
          <p:cNvSpPr txBox="1"/>
          <p:nvPr/>
        </p:nvSpPr>
        <p:spPr>
          <a:xfrm>
            <a:off x="118872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Viper</a:t>
            </a:r>
            <a:endParaRPr lang="en-US" sz="1500" dirty="0"/>
          </a:p>
        </p:txBody>
      </p:sp>
      <p:sp>
        <p:nvSpPr>
          <p:cNvPr id="9" name="Shape 6"/>
          <p:cNvSpPr/>
          <p:nvPr/>
        </p:nvSpPr>
        <p:spPr>
          <a:xfrm>
            <a:off x="192024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10" name="Text 7"/>
          <p:cNvSpPr txBox="1"/>
          <p:nvPr/>
        </p:nvSpPr>
        <p:spPr>
          <a:xfrm>
            <a:off x="192024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11" name="Image 1" descr="Sova">    </p:cNvPr>
          <p:cNvPicPr>
            <a:picLocks noChangeAspect="1"/>
          </p:cNvPicPr>
          <p:nvPr/>
        </p:nvPicPr>
        <p:blipFill>
          <a:blip r:embed="rId3"/>
          <a:stretch>
            <a:fillRect/>
          </a:stretch>
        </p:blipFill>
        <p:spPr>
          <a:xfrm>
            <a:off x="1975104" y="2322576"/>
            <a:ext cx="457200" cy="457200"/>
          </a:xfrm>
          <a:prstGeom prst="rect">
            <a:avLst/>
          </a:prstGeom>
        </p:spPr>
      </p:pic>
      <p:sp>
        <p:nvSpPr>
          <p:cNvPr id="12" name="Text 8"/>
          <p:cNvSpPr txBox="1"/>
          <p:nvPr/>
        </p:nvSpPr>
        <p:spPr>
          <a:xfrm>
            <a:off x="246888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Sova</a:t>
            </a:r>
            <a:endParaRPr lang="en-US" sz="1500" dirty="0"/>
          </a:p>
        </p:txBody>
      </p:sp>
      <p:sp>
        <p:nvSpPr>
          <p:cNvPr id="13" name="Shape 9"/>
          <p:cNvSpPr/>
          <p:nvPr/>
        </p:nvSpPr>
        <p:spPr>
          <a:xfrm>
            <a:off x="320040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14" name="Text 10"/>
          <p:cNvSpPr txBox="1"/>
          <p:nvPr/>
        </p:nvSpPr>
        <p:spPr>
          <a:xfrm>
            <a:off x="320040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15" name="Image 2" descr="Killjoy">    </p:cNvPr>
          <p:cNvPicPr>
            <a:picLocks noChangeAspect="1"/>
          </p:cNvPicPr>
          <p:nvPr/>
        </p:nvPicPr>
        <p:blipFill>
          <a:blip r:embed="rId4"/>
          <a:stretch>
            <a:fillRect/>
          </a:stretch>
        </p:blipFill>
        <p:spPr>
          <a:xfrm>
            <a:off x="3255264" y="2322576"/>
            <a:ext cx="457200" cy="457200"/>
          </a:xfrm>
          <a:prstGeom prst="rect">
            <a:avLst/>
          </a:prstGeom>
        </p:spPr>
      </p:pic>
      <p:sp>
        <p:nvSpPr>
          <p:cNvPr id="16" name="Text 11"/>
          <p:cNvSpPr txBox="1"/>
          <p:nvPr/>
        </p:nvSpPr>
        <p:spPr>
          <a:xfrm>
            <a:off x="374904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Killjoy</a:t>
            </a:r>
            <a:endParaRPr lang="en-US" sz="1500" dirty="0"/>
          </a:p>
        </p:txBody>
      </p:sp>
      <p:sp>
        <p:nvSpPr>
          <p:cNvPr id="17" name="Shape 12"/>
          <p:cNvSpPr/>
          <p:nvPr/>
        </p:nvSpPr>
        <p:spPr>
          <a:xfrm>
            <a:off x="4480560" y="2267712"/>
            <a:ext cx="1188720" cy="566928"/>
          </a:xfrm>
          <a:prstGeom prst="roundRect">
            <a:avLst>
              <a:gd name="adj" fmla="val 16129"/>
            </a:avLst>
          </a:prstGeom>
          <a:solidFill>
            <a:srgbClr val="1B2733"/>
          </a:solidFill>
          <a:ln w="9525">
            <a:solidFill>
              <a:srgbClr val="FFFFFF">
                <a:alpha val="20000"/>
              </a:srgbClr>
            </a:solidFill>
            <a:prstDash val="solid"/>
          </a:ln>
        </p:spPr>
      </p:sp>
      <p:sp>
        <p:nvSpPr>
          <p:cNvPr id="18" name="Text 13"/>
          <p:cNvSpPr txBox="1"/>
          <p:nvPr/>
        </p:nvSpPr>
        <p:spPr>
          <a:xfrm>
            <a:off x="4480560" y="2267712"/>
            <a:ext cx="1188720" cy="566928"/>
          </a:xfrm>
          <a:prstGeom prst="rect">
            <a:avLst/>
          </a:prstGeom>
          <a:noFill/>
          <a:ln/>
        </p:spPr>
        <p:txBody>
          <a:bodyPr wrap="square" lIns="0" tIns="0" rIns="0" bIns="0" rtlCol="0" anchor="ctr"/>
          <a:lstStyle/>
          <a:p>
            <a:pPr algn="ctr" indent="0" marL="0">
              <a:buNone/>
            </a:pPr>
            <a:endParaRPr lang="en-US" sz="1800" dirty="0"/>
          </a:p>
        </p:txBody>
      </p:sp>
      <p:pic>
        <p:nvPicPr>
          <p:cNvPr id="19" name="Image 3" descr="Jett">    </p:cNvPr>
          <p:cNvPicPr>
            <a:picLocks noChangeAspect="1"/>
          </p:cNvPicPr>
          <p:nvPr/>
        </p:nvPicPr>
        <p:blipFill>
          <a:blip r:embed="rId5"/>
          <a:stretch>
            <a:fillRect/>
          </a:stretch>
        </p:blipFill>
        <p:spPr>
          <a:xfrm>
            <a:off x="4535424" y="2322576"/>
            <a:ext cx="457200" cy="457200"/>
          </a:xfrm>
          <a:prstGeom prst="rect">
            <a:avLst/>
          </a:prstGeom>
        </p:spPr>
      </p:pic>
      <p:sp>
        <p:nvSpPr>
          <p:cNvPr id="20" name="Text 14"/>
          <p:cNvSpPr txBox="1"/>
          <p:nvPr/>
        </p:nvSpPr>
        <p:spPr>
          <a:xfrm>
            <a:off x="5029200" y="2267712"/>
            <a:ext cx="621792" cy="56692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Jett</a:t>
            </a:r>
            <a:endParaRPr lang="en-US" sz="1500" dirty="0"/>
          </a:p>
        </p:txBody>
      </p:sp>
      <p:sp>
        <p:nvSpPr>
          <p:cNvPr id="21" name="Shape 15"/>
          <p:cNvSpPr/>
          <p:nvPr/>
        </p:nvSpPr>
        <p:spPr>
          <a:xfrm>
            <a:off x="5760720" y="2267712"/>
            <a:ext cx="1188720" cy="566928"/>
          </a:xfrm>
          <a:prstGeom prst="roundRect">
            <a:avLst>
              <a:gd name="adj" fmla="val 16129"/>
            </a:avLst>
          </a:prstGeom>
          <a:solidFill>
            <a:srgbClr val="0F1923">
              <a:alpha val="70000"/>
            </a:srgbClr>
          </a:solidFill>
          <a:ln w="19050">
            <a:solidFill>
              <a:srgbClr val="FF4655"/>
            </a:solidFill>
            <a:prstDash val="dash"/>
          </a:ln>
        </p:spPr>
      </p:sp>
      <p:sp>
        <p:nvSpPr>
          <p:cNvPr id="22" name="Text 16"/>
          <p:cNvSpPr txBox="1"/>
          <p:nvPr/>
        </p:nvSpPr>
        <p:spPr>
          <a:xfrm>
            <a:off x="5760720" y="2267712"/>
            <a:ext cx="1188720" cy="566928"/>
          </a:xfrm>
          <a:prstGeom prst="rect">
            <a:avLst/>
          </a:prstGeom>
          <a:noFill/>
          <a:ln/>
        </p:spPr>
        <p:txBody>
          <a:bodyPr wrap="square" lIns="0" tIns="0" rIns="0" bIns="0" rtlCol="0" anchor="ctr"/>
          <a:lstStyle/>
          <a:p>
            <a:pPr algn="ctr" indent="0" marL="0">
              <a:buNone/>
            </a:pPr>
            <a:r>
              <a:rPr lang="en-US" sz="1800" b="1" dirty="0">
                <a:solidFill>
                  <a:srgbClr val="FF4655"/>
                </a:solidFill>
                <a:latin typeface="Arial" pitchFamily="34" charset="0"/>
                <a:ea typeface="Arial" pitchFamily="34" charset="-122"/>
                <a:cs typeface="Arial" pitchFamily="34" charset="-120"/>
              </a:rPr>
              <a:t>?</a:t>
            </a:r>
            <a:endParaRPr lang="en-US" sz="1800" dirty="0"/>
          </a:p>
        </p:txBody>
      </p:sp>
      <p:sp>
        <p:nvSpPr>
          <p:cNvPr id="23" name="Text 17"/>
          <p:cNvSpPr txBox="1"/>
          <p:nvPr/>
        </p:nvSpPr>
        <p:spPr>
          <a:xfrm>
            <a:off x="640080" y="2971800"/>
            <a:ext cx="6309360" cy="411480"/>
          </a:xfrm>
          <a:prstGeom prst="rect">
            <a:avLst/>
          </a:prstGeom>
          <a:noFill/>
          <a:ln/>
        </p:spPr>
        <p:txBody>
          <a:bodyPr wrap="square" lIns="0" tIns="0" rIns="0" bIns="0" rtlCol="0" anchor="ctr"/>
          <a:lstStyle/>
          <a:p>
            <a:pPr indent="0" marL="0">
              <a:buNone/>
            </a:pPr>
            <a:r>
              <a:rPr lang="en-US" sz="1700" i="1" dirty="0">
                <a:solidFill>
                  <a:srgbClr val="B4BDC6"/>
                </a:solidFill>
                <a:latin typeface="Calibri" pitchFamily="34" charset="0"/>
                <a:ea typeface="Calibri" pitchFamily="34" charset="-122"/>
                <a:cs typeface="Calibri" pitchFamily="34" charset="-120"/>
              </a:rPr>
              <a:t>Four agents locked in. What's the fifth?</a:t>
            </a:r>
            <a:endParaRPr lang="en-US" sz="1700" dirty="0"/>
          </a:p>
        </p:txBody>
      </p:sp>
      <p:sp>
        <p:nvSpPr>
          <p:cNvPr id="24" name="Shape 18"/>
          <p:cNvSpPr/>
          <p:nvPr/>
        </p:nvSpPr>
        <p:spPr>
          <a:xfrm>
            <a:off x="7315200" y="1874520"/>
            <a:ext cx="4206240" cy="1828800"/>
          </a:xfrm>
          <a:prstGeom prst="roundRect">
            <a:avLst>
              <a:gd name="adj" fmla="val 4000"/>
            </a:avLst>
          </a:prstGeom>
          <a:solidFill>
            <a:srgbClr val="3A1720">
              <a:alpha val="88000"/>
            </a:srgbClr>
          </a:solidFill>
          <a:ln w="12700">
            <a:solidFill>
              <a:srgbClr val="FF4655">
                <a:alpha val="75000"/>
              </a:srgbClr>
            </a:solidFill>
            <a:prstDash val="solid"/>
          </a:ln>
        </p:spPr>
      </p:sp>
      <p:sp>
        <p:nvSpPr>
          <p:cNvPr id="25" name="Text 19"/>
          <p:cNvSpPr txBox="1"/>
          <p:nvPr/>
        </p:nvSpPr>
        <p:spPr>
          <a:xfrm>
            <a:off x="7571232" y="2039112"/>
            <a:ext cx="369417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ITS TOP 3 SUGGESTIONS</a:t>
            </a:r>
            <a:endParaRPr lang="en-US" sz="1300" dirty="0"/>
          </a:p>
        </p:txBody>
      </p:sp>
      <p:pic>
        <p:nvPicPr>
          <p:cNvPr id="26" name="Image 4" descr="Sage">    </p:cNvPr>
          <p:cNvPicPr>
            <a:picLocks noChangeAspect="1"/>
          </p:cNvPicPr>
          <p:nvPr/>
        </p:nvPicPr>
        <p:blipFill>
          <a:blip r:embed="rId6"/>
          <a:stretch>
            <a:fillRect/>
          </a:stretch>
        </p:blipFill>
        <p:spPr>
          <a:xfrm>
            <a:off x="7571232" y="2441448"/>
            <a:ext cx="310896" cy="310896"/>
          </a:xfrm>
          <a:prstGeom prst="rect">
            <a:avLst/>
          </a:prstGeom>
        </p:spPr>
      </p:pic>
      <p:sp>
        <p:nvSpPr>
          <p:cNvPr id="27" name="Text 20"/>
          <p:cNvSpPr txBox="1"/>
          <p:nvPr/>
        </p:nvSpPr>
        <p:spPr>
          <a:xfrm>
            <a:off x="7973568" y="2441448"/>
            <a:ext cx="100584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Sage</a:t>
            </a:r>
            <a:endParaRPr lang="en-US" sz="1600" dirty="0"/>
          </a:p>
        </p:txBody>
      </p:sp>
      <p:sp>
        <p:nvSpPr>
          <p:cNvPr id="28" name="Shape 21"/>
          <p:cNvSpPr/>
          <p:nvPr/>
        </p:nvSpPr>
        <p:spPr>
          <a:xfrm>
            <a:off x="9006840" y="2505456"/>
            <a:ext cx="1448410" cy="182880"/>
          </a:xfrm>
          <a:prstGeom prst="rect">
            <a:avLst/>
          </a:prstGeom>
          <a:solidFill>
            <a:srgbClr val="FF4655"/>
          </a:solidFill>
          <a:ln w="12700">
            <a:solidFill>
              <a:srgbClr val="333333"/>
            </a:solidFill>
            <a:prstDash val="solid"/>
          </a:ln>
        </p:spPr>
      </p:sp>
      <p:sp>
        <p:nvSpPr>
          <p:cNvPr id="29" name="Text 22"/>
          <p:cNvSpPr txBox="1"/>
          <p:nvPr/>
        </p:nvSpPr>
        <p:spPr>
          <a:xfrm>
            <a:off x="10546690" y="2441448"/>
            <a:ext cx="731520" cy="310896"/>
          </a:xfrm>
          <a:prstGeom prst="rect">
            <a:avLst/>
          </a:prstGeom>
          <a:noFill/>
          <a:ln/>
        </p:spPr>
        <p:txBody>
          <a:bodyPr wrap="square" lIns="0" tIns="0" rIns="0" bIns="0" rtlCol="0" anchor="ctr"/>
          <a:lstStyle/>
          <a:p>
            <a:pPr indent="0" marL="0">
              <a:buNone/>
            </a:pPr>
            <a:r>
              <a:rPr lang="en-US" sz="1400" dirty="0">
                <a:solidFill>
                  <a:srgbClr val="ECE8E1"/>
                </a:solidFill>
                <a:latin typeface="Courier New" pitchFamily="34" charset="0"/>
                <a:ea typeface="Courier New" pitchFamily="34" charset="-122"/>
                <a:cs typeface="Courier New" pitchFamily="34" charset="-120"/>
              </a:rPr>
              <a:t>48%</a:t>
            </a:r>
            <a:endParaRPr lang="en-US" sz="1400" dirty="0"/>
          </a:p>
        </p:txBody>
      </p:sp>
      <p:pic>
        <p:nvPicPr>
          <p:cNvPr id="30" name="Image 5" descr="Harbor">    </p:cNvPr>
          <p:cNvPicPr>
            <a:picLocks noChangeAspect="1"/>
          </p:cNvPicPr>
          <p:nvPr/>
        </p:nvPicPr>
        <p:blipFill>
          <a:blip r:embed="rId7"/>
          <a:stretch>
            <a:fillRect/>
          </a:stretch>
        </p:blipFill>
        <p:spPr>
          <a:xfrm>
            <a:off x="7571232" y="2843784"/>
            <a:ext cx="310896" cy="310896"/>
          </a:xfrm>
          <a:prstGeom prst="rect">
            <a:avLst/>
          </a:prstGeom>
        </p:spPr>
      </p:pic>
      <p:sp>
        <p:nvSpPr>
          <p:cNvPr id="31" name="Text 23"/>
          <p:cNvSpPr txBox="1"/>
          <p:nvPr/>
        </p:nvSpPr>
        <p:spPr>
          <a:xfrm>
            <a:off x="7973568" y="2843784"/>
            <a:ext cx="100584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Harbor</a:t>
            </a:r>
            <a:endParaRPr lang="en-US" sz="1600" dirty="0"/>
          </a:p>
        </p:txBody>
      </p:sp>
      <p:sp>
        <p:nvSpPr>
          <p:cNvPr id="32" name="Shape 24"/>
          <p:cNvSpPr/>
          <p:nvPr/>
        </p:nvSpPr>
        <p:spPr>
          <a:xfrm>
            <a:off x="9006840" y="2907792"/>
            <a:ext cx="844906" cy="182880"/>
          </a:xfrm>
          <a:prstGeom prst="rect">
            <a:avLst/>
          </a:prstGeom>
          <a:solidFill>
            <a:srgbClr val="FF4655"/>
          </a:solidFill>
          <a:ln w="12700">
            <a:solidFill>
              <a:srgbClr val="333333"/>
            </a:solidFill>
            <a:prstDash val="solid"/>
          </a:ln>
        </p:spPr>
      </p:sp>
      <p:sp>
        <p:nvSpPr>
          <p:cNvPr id="33" name="Text 25"/>
          <p:cNvSpPr txBox="1"/>
          <p:nvPr/>
        </p:nvSpPr>
        <p:spPr>
          <a:xfrm>
            <a:off x="9943186" y="2843784"/>
            <a:ext cx="731520" cy="310896"/>
          </a:xfrm>
          <a:prstGeom prst="rect">
            <a:avLst/>
          </a:prstGeom>
          <a:noFill/>
          <a:ln/>
        </p:spPr>
        <p:txBody>
          <a:bodyPr wrap="square" lIns="0" tIns="0" rIns="0" bIns="0" rtlCol="0" anchor="ctr"/>
          <a:lstStyle/>
          <a:p>
            <a:pPr indent="0" marL="0">
              <a:buNone/>
            </a:pPr>
            <a:r>
              <a:rPr lang="en-US" sz="1400" dirty="0">
                <a:solidFill>
                  <a:srgbClr val="ECE8E1"/>
                </a:solidFill>
                <a:latin typeface="Courier New" pitchFamily="34" charset="0"/>
                <a:ea typeface="Courier New" pitchFamily="34" charset="-122"/>
                <a:cs typeface="Courier New" pitchFamily="34" charset="-120"/>
              </a:rPr>
              <a:t>28%</a:t>
            </a:r>
            <a:endParaRPr lang="en-US" sz="1400" dirty="0"/>
          </a:p>
        </p:txBody>
      </p:sp>
      <p:pic>
        <p:nvPicPr>
          <p:cNvPr id="34" name="Image 6" descr="Omen">    </p:cNvPr>
          <p:cNvPicPr>
            <a:picLocks noChangeAspect="1"/>
          </p:cNvPicPr>
          <p:nvPr/>
        </p:nvPicPr>
        <p:blipFill>
          <a:blip r:embed="rId8"/>
          <a:stretch>
            <a:fillRect/>
          </a:stretch>
        </p:blipFill>
        <p:spPr>
          <a:xfrm>
            <a:off x="7571232" y="3246120"/>
            <a:ext cx="310896" cy="310896"/>
          </a:xfrm>
          <a:prstGeom prst="rect">
            <a:avLst/>
          </a:prstGeom>
        </p:spPr>
      </p:pic>
      <p:sp>
        <p:nvSpPr>
          <p:cNvPr id="35" name="Text 26"/>
          <p:cNvSpPr txBox="1"/>
          <p:nvPr/>
        </p:nvSpPr>
        <p:spPr>
          <a:xfrm>
            <a:off x="7973568" y="3246120"/>
            <a:ext cx="100584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Omen</a:t>
            </a:r>
            <a:endParaRPr lang="en-US" sz="1600" dirty="0"/>
          </a:p>
        </p:txBody>
      </p:sp>
      <p:sp>
        <p:nvSpPr>
          <p:cNvPr id="36" name="Shape 27"/>
          <p:cNvSpPr/>
          <p:nvPr/>
        </p:nvSpPr>
        <p:spPr>
          <a:xfrm>
            <a:off x="9006840" y="3310128"/>
            <a:ext cx="392278" cy="182880"/>
          </a:xfrm>
          <a:prstGeom prst="rect">
            <a:avLst/>
          </a:prstGeom>
          <a:solidFill>
            <a:srgbClr val="FF4655"/>
          </a:solidFill>
          <a:ln w="12700">
            <a:solidFill>
              <a:srgbClr val="333333"/>
            </a:solidFill>
            <a:prstDash val="solid"/>
          </a:ln>
        </p:spPr>
      </p:sp>
      <p:sp>
        <p:nvSpPr>
          <p:cNvPr id="37" name="Text 28"/>
          <p:cNvSpPr txBox="1"/>
          <p:nvPr/>
        </p:nvSpPr>
        <p:spPr>
          <a:xfrm>
            <a:off x="9490558" y="3246120"/>
            <a:ext cx="731520" cy="310896"/>
          </a:xfrm>
          <a:prstGeom prst="rect">
            <a:avLst/>
          </a:prstGeom>
          <a:noFill/>
          <a:ln/>
        </p:spPr>
        <p:txBody>
          <a:bodyPr wrap="square" lIns="0" tIns="0" rIns="0" bIns="0" rtlCol="0" anchor="ctr"/>
          <a:lstStyle/>
          <a:p>
            <a:pPr indent="0" marL="0">
              <a:buNone/>
            </a:pPr>
            <a:r>
              <a:rPr lang="en-US" sz="1400" dirty="0">
                <a:solidFill>
                  <a:srgbClr val="ECE8E1"/>
                </a:solidFill>
                <a:latin typeface="Courier New" pitchFamily="34" charset="0"/>
                <a:ea typeface="Courier New" pitchFamily="34" charset="-122"/>
                <a:cs typeface="Courier New" pitchFamily="34" charset="-120"/>
              </a:rPr>
              <a:t>13%</a:t>
            </a:r>
            <a:endParaRPr lang="en-US" sz="1400" dirty="0"/>
          </a:p>
        </p:txBody>
      </p:sp>
      <p:sp>
        <p:nvSpPr>
          <p:cNvPr id="38" name="Shape 29"/>
          <p:cNvSpPr/>
          <p:nvPr/>
        </p:nvSpPr>
        <p:spPr>
          <a:xfrm>
            <a:off x="640080" y="3977640"/>
            <a:ext cx="10881360" cy="2194560"/>
          </a:xfrm>
          <a:prstGeom prst="roundRect">
            <a:avLst>
              <a:gd name="adj" fmla="val 3333"/>
            </a:avLst>
          </a:prstGeom>
          <a:solidFill>
            <a:srgbClr val="0F1923">
              <a:alpha val="78000"/>
            </a:srgbClr>
          </a:solidFill>
          <a:ln w="9525">
            <a:solidFill>
              <a:srgbClr val="FFFFFF">
                <a:alpha val="20000"/>
              </a:srgbClr>
            </a:solidFill>
            <a:prstDash val="solid"/>
          </a:ln>
        </p:spPr>
      </p:sp>
      <p:sp>
        <p:nvSpPr>
          <p:cNvPr id="39" name="Text 30"/>
          <p:cNvSpPr txBox="1"/>
          <p:nvPr/>
        </p:nvSpPr>
        <p:spPr>
          <a:xfrm>
            <a:off x="896112" y="4178808"/>
            <a:ext cx="1036929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HOW IT'S SCORED</a:t>
            </a:r>
            <a:endParaRPr lang="en-US" sz="1300" dirty="0"/>
          </a:p>
        </p:txBody>
      </p:sp>
      <p:sp>
        <p:nvSpPr>
          <p:cNvPr id="40" name="Text 31"/>
          <p:cNvSpPr txBox="1"/>
          <p:nvPr/>
        </p:nvSpPr>
        <p:spPr>
          <a:xfrm>
            <a:off x="896112" y="4581144"/>
            <a:ext cx="10369296" cy="137160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ECE8E1"/>
                </a:solidFill>
                <a:latin typeface="Calibri" pitchFamily="34" charset="0"/>
                <a:ea typeface="Calibri" pitchFamily="34" charset="-122"/>
                <a:cs typeface="Calibri" pitchFamily="34" charset="-120"/>
              </a:rPr>
              <a:t>Hide one agent from a real pro line-up. Is it in the top 3?</a:t>
            </a:r>
            <a:endParaRPr lang="en-US" sz="2400" dirty="0"/>
          </a:p>
          <a:p>
            <a:pPr marL="342900" indent="-342900">
              <a:spcAft>
                <a:spcPts val="1200"/>
              </a:spcAft>
              <a:buSzPct val="100000"/>
              <a:buChar char="•"/>
            </a:pPr>
            <a:r>
              <a:rPr lang="en-US" sz="2400" dirty="0">
                <a:solidFill>
                  <a:srgbClr val="ECE8E1"/>
                </a:solidFill>
                <a:latin typeface="Calibri" pitchFamily="34" charset="0"/>
                <a:ea typeface="Calibri" pitchFamily="34" charset="-122"/>
                <a:cs typeface="Calibri" pitchFamily="34" charset="-120"/>
              </a:rPr>
              <a:t>The bar to beat: the most-played rule, whatever pros played most here lately.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result</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874520"/>
            <a:ext cx="4297680" cy="4206240"/>
          </a:xfrm>
          <a:prstGeom prst="roundRect">
            <a:avLst>
              <a:gd name="adj" fmla="val 1739"/>
            </a:avLst>
          </a:prstGeom>
          <a:solidFill>
            <a:srgbClr val="3A1720">
              <a:alpha val="88000"/>
            </a:srgbClr>
          </a:solidFill>
          <a:ln w="12700">
            <a:solidFill>
              <a:srgbClr val="FF4655">
                <a:alpha val="75000"/>
              </a:srgbClr>
            </a:solidFill>
            <a:prstDash val="solid"/>
          </a:ln>
        </p:spPr>
      </p:sp>
      <p:sp>
        <p:nvSpPr>
          <p:cNvPr id="5" name="Text 3"/>
          <p:cNvSpPr txBox="1"/>
          <p:nvPr/>
        </p:nvSpPr>
        <p:spPr>
          <a:xfrm>
            <a:off x="1051560" y="2057400"/>
            <a:ext cx="356616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91.3%</a:t>
            </a:r>
            <a:endParaRPr lang="en-US" sz="6000" dirty="0"/>
          </a:p>
        </p:txBody>
      </p:sp>
      <p:sp>
        <p:nvSpPr>
          <p:cNvPr id="6" name="Text 4"/>
          <p:cNvSpPr txBox="1"/>
          <p:nvPr/>
        </p:nvSpPr>
        <p:spPr>
          <a:xfrm>
            <a:off x="1051560" y="2971800"/>
            <a:ext cx="3566160" cy="365760"/>
          </a:xfrm>
          <a:prstGeom prst="rect">
            <a:avLst/>
          </a:prstGeom>
          <a:noFill/>
          <a:ln/>
        </p:spPr>
        <p:txBody>
          <a:bodyPr wrap="square" lIns="0" tIns="0" rIns="0" bIns="0" rtlCol="0" anchor="ctr"/>
          <a:lstStyle/>
          <a:p>
            <a:pPr indent="0" marL="0">
              <a:buNone/>
            </a:pPr>
            <a:r>
              <a:rPr lang="en-US" sz="1500" dirty="0">
                <a:solidFill>
                  <a:srgbClr val="FF4655"/>
                </a:solidFill>
                <a:latin typeface="Courier New" pitchFamily="34" charset="0"/>
                <a:ea typeface="Courier New" pitchFamily="34" charset="-122"/>
                <a:cs typeface="Courier New" pitchFamily="34" charset="-120"/>
              </a:rPr>
              <a:t>rest of 2025</a:t>
            </a:r>
            <a:endParaRPr lang="en-US" sz="1500" dirty="0"/>
          </a:p>
        </p:txBody>
      </p:sp>
      <p:sp>
        <p:nvSpPr>
          <p:cNvPr id="7" name="Text 5"/>
          <p:cNvSpPr txBox="1"/>
          <p:nvPr/>
        </p:nvSpPr>
        <p:spPr>
          <a:xfrm>
            <a:off x="1051560" y="3474720"/>
            <a:ext cx="356616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87.4%</a:t>
            </a:r>
            <a:endParaRPr lang="en-US" sz="6000" dirty="0"/>
          </a:p>
        </p:txBody>
      </p:sp>
      <p:sp>
        <p:nvSpPr>
          <p:cNvPr id="8" name="Text 6"/>
          <p:cNvSpPr txBox="1"/>
          <p:nvPr/>
        </p:nvSpPr>
        <p:spPr>
          <a:xfrm>
            <a:off x="1051560" y="4389120"/>
            <a:ext cx="3566160" cy="365760"/>
          </a:xfrm>
          <a:prstGeom prst="rect">
            <a:avLst/>
          </a:prstGeom>
          <a:noFill/>
          <a:ln/>
        </p:spPr>
        <p:txBody>
          <a:bodyPr wrap="square" lIns="0" tIns="0" rIns="0" bIns="0" rtlCol="0" anchor="ctr"/>
          <a:lstStyle/>
          <a:p>
            <a:pPr indent="0" marL="0">
              <a:buNone/>
            </a:pPr>
            <a:r>
              <a:rPr lang="en-US" sz="1500" dirty="0">
                <a:solidFill>
                  <a:srgbClr val="FF4655"/>
                </a:solidFill>
                <a:latin typeface="Courier New" pitchFamily="34" charset="0"/>
                <a:ea typeface="Courier New" pitchFamily="34" charset="-122"/>
                <a:cs typeface="Courier New" pitchFamily="34" charset="-120"/>
              </a:rPr>
              <a:t>2026: new season, new agents</a:t>
            </a:r>
            <a:endParaRPr lang="en-US" sz="1500" dirty="0"/>
          </a:p>
        </p:txBody>
      </p:sp>
      <p:sp>
        <p:nvSpPr>
          <p:cNvPr id="9" name="Shape 7"/>
          <p:cNvSpPr/>
          <p:nvPr/>
        </p:nvSpPr>
        <p:spPr>
          <a:xfrm>
            <a:off x="5303520" y="1874520"/>
            <a:ext cx="6217920" cy="4206240"/>
          </a:xfrm>
          <a:prstGeom prst="roundRect">
            <a:avLst>
              <a:gd name="adj" fmla="val 1739"/>
            </a:avLst>
          </a:prstGeom>
          <a:solidFill>
            <a:srgbClr val="0F1923">
              <a:alpha val="78000"/>
            </a:srgbClr>
          </a:solidFill>
          <a:ln w="9525">
            <a:solidFill>
              <a:srgbClr val="FFFFFF">
                <a:alpha val="20000"/>
              </a:srgbClr>
            </a:solidFill>
            <a:prstDash val="solid"/>
          </a:ln>
        </p:spPr>
      </p:sp>
      <p:sp>
        <p:nvSpPr>
          <p:cNvPr id="10" name="Text 8"/>
          <p:cNvSpPr txBox="1"/>
          <p:nvPr/>
        </p:nvSpPr>
        <p:spPr>
          <a:xfrm>
            <a:off x="5559552" y="2075688"/>
            <a:ext cx="570585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PROS' PICK IN THE TOP 3, FOUR AGENTS LOCKED IN</a:t>
            </a:r>
            <a:endParaRPr lang="en-US" sz="1300" dirty="0"/>
          </a:p>
        </p:txBody>
      </p:sp>
      <p:sp>
        <p:nvSpPr>
          <p:cNvPr id="11" name="Text 9"/>
          <p:cNvSpPr txBox="1"/>
          <p:nvPr/>
        </p:nvSpPr>
        <p:spPr>
          <a:xfrm>
            <a:off x="5559552" y="2478024"/>
            <a:ext cx="5705856" cy="3383280"/>
          </a:xfrm>
          <a:prstGeom prst="rect">
            <a:avLst/>
          </a:prstGeom>
          <a:noFill/>
          <a:ln/>
        </p:spPr>
        <p:txBody>
          <a:bodyPr wrap="square" lIns="0" tIns="0" rIns="0" bIns="0" rtlCol="0" anchor="t"/>
          <a:lstStyle/>
          <a:p>
            <a:pPr indent="0" marL="0">
              <a:buNone/>
            </a:pPr>
            <a:endParaRPr lang="en-US" sz="1600" dirty="0"/>
          </a:p>
        </p:txBody>
      </p:sp>
      <p:sp>
        <p:nvSpPr>
          <p:cNvPr id="12" name="Text 10"/>
          <p:cNvSpPr txBox="1"/>
          <p:nvPr/>
        </p:nvSpPr>
        <p:spPr>
          <a:xfrm>
            <a:off x="5559552" y="2468880"/>
            <a:ext cx="2103120" cy="457200"/>
          </a:xfrm>
          <a:prstGeom prst="rect">
            <a:avLst/>
          </a:prstGeom>
          <a:noFill/>
          <a:ln/>
        </p:spPr>
        <p:txBody>
          <a:bodyPr wrap="square" lIns="0" tIns="0" rIns="0" bIns="0" rtlCol="0" anchor="ctr"/>
          <a:lstStyle/>
          <a:p>
            <a:pPr indent="0" marL="0">
              <a:buNone/>
            </a:pPr>
            <a:r>
              <a:rPr lang="en-US" sz="1600" dirty="0">
                <a:solidFill>
                  <a:srgbClr val="ECE8E1"/>
                </a:solidFill>
                <a:latin typeface="Calibri" pitchFamily="34" charset="0"/>
                <a:ea typeface="Calibri" pitchFamily="34" charset="-122"/>
                <a:cs typeface="Calibri" pitchFamily="34" charset="-120"/>
              </a:rPr>
              <a:t>Random guess</a:t>
            </a:r>
            <a:endParaRPr lang="en-US" sz="1600" dirty="0"/>
          </a:p>
        </p:txBody>
      </p:sp>
      <p:sp>
        <p:nvSpPr>
          <p:cNvPr id="13" name="Shape 11"/>
          <p:cNvSpPr/>
          <p:nvPr/>
        </p:nvSpPr>
        <p:spPr>
          <a:xfrm>
            <a:off x="7680960" y="2514600"/>
            <a:ext cx="344729" cy="329184"/>
          </a:xfrm>
          <a:prstGeom prst="rect">
            <a:avLst/>
          </a:prstGeom>
          <a:solidFill>
            <a:srgbClr val="4A5663"/>
          </a:solidFill>
          <a:ln w="12700">
            <a:solidFill>
              <a:srgbClr val="333333"/>
            </a:solidFill>
            <a:prstDash val="solid"/>
          </a:ln>
        </p:spPr>
      </p:sp>
      <p:sp>
        <p:nvSpPr>
          <p:cNvPr id="14" name="Text 12"/>
          <p:cNvSpPr txBox="1"/>
          <p:nvPr/>
        </p:nvSpPr>
        <p:spPr>
          <a:xfrm>
            <a:off x="8117129" y="2496312"/>
            <a:ext cx="1188720" cy="365760"/>
          </a:xfrm>
          <a:prstGeom prst="rect">
            <a:avLst/>
          </a:prstGeom>
          <a:noFill/>
          <a:ln/>
        </p:spPr>
        <p:txBody>
          <a:bodyPr wrap="square" lIns="0" tIns="0" rIns="0" bIns="0" rtlCol="0" anchor="ctr"/>
          <a:lstStyle/>
          <a:p>
            <a:pPr indent="0" marL="0">
              <a:buNone/>
            </a:pPr>
            <a:r>
              <a:rPr lang="en-US" sz="1500" b="1" dirty="0">
                <a:solidFill>
                  <a:srgbClr val="ECE8E1"/>
                </a:solidFill>
                <a:latin typeface="Courier New" pitchFamily="34" charset="0"/>
                <a:ea typeface="Courier New" pitchFamily="34" charset="-122"/>
                <a:cs typeface="Courier New" pitchFamily="34" charset="-120"/>
              </a:rPr>
              <a:t>≈13%</a:t>
            </a:r>
            <a:endParaRPr lang="en-US" sz="1500" dirty="0"/>
          </a:p>
        </p:txBody>
      </p:sp>
      <p:sp>
        <p:nvSpPr>
          <p:cNvPr id="15" name="Text 13"/>
          <p:cNvSpPr txBox="1"/>
          <p:nvPr/>
        </p:nvSpPr>
        <p:spPr>
          <a:xfrm>
            <a:off x="5559552" y="2926080"/>
            <a:ext cx="2103120" cy="457200"/>
          </a:xfrm>
          <a:prstGeom prst="rect">
            <a:avLst/>
          </a:prstGeom>
          <a:noFill/>
          <a:ln/>
        </p:spPr>
        <p:txBody>
          <a:bodyPr wrap="square" lIns="0" tIns="0" rIns="0" bIns="0" rtlCol="0" anchor="ctr"/>
          <a:lstStyle/>
          <a:p>
            <a:pPr indent="0" marL="0">
              <a:buNone/>
            </a:pPr>
            <a:r>
              <a:rPr lang="en-US" sz="1600" dirty="0">
                <a:solidFill>
                  <a:srgbClr val="ECE8E1"/>
                </a:solidFill>
                <a:latin typeface="Calibri" pitchFamily="34" charset="0"/>
                <a:ea typeface="Calibri" pitchFamily="34" charset="-122"/>
                <a:cs typeface="Calibri" pitchFamily="34" charset="-120"/>
              </a:rPr>
              <a:t>Most-played rule, 2025</a:t>
            </a:r>
            <a:endParaRPr lang="en-US" sz="1600" dirty="0"/>
          </a:p>
        </p:txBody>
      </p:sp>
      <p:sp>
        <p:nvSpPr>
          <p:cNvPr id="16" name="Shape 14"/>
          <p:cNvSpPr/>
          <p:nvPr/>
        </p:nvSpPr>
        <p:spPr>
          <a:xfrm>
            <a:off x="7680960" y="2971800"/>
            <a:ext cx="2049810" cy="329184"/>
          </a:xfrm>
          <a:prstGeom prst="rect">
            <a:avLst/>
          </a:prstGeom>
          <a:solidFill>
            <a:srgbClr val="7C8894"/>
          </a:solidFill>
          <a:ln w="12700">
            <a:solidFill>
              <a:srgbClr val="333333"/>
            </a:solidFill>
            <a:prstDash val="solid"/>
          </a:ln>
        </p:spPr>
      </p:sp>
      <p:sp>
        <p:nvSpPr>
          <p:cNvPr id="17" name="Text 15"/>
          <p:cNvSpPr txBox="1"/>
          <p:nvPr/>
        </p:nvSpPr>
        <p:spPr>
          <a:xfrm>
            <a:off x="9822210" y="2953512"/>
            <a:ext cx="1188720" cy="365760"/>
          </a:xfrm>
          <a:prstGeom prst="rect">
            <a:avLst/>
          </a:prstGeom>
          <a:noFill/>
          <a:ln/>
        </p:spPr>
        <p:txBody>
          <a:bodyPr wrap="square" lIns="0" tIns="0" rIns="0" bIns="0" rtlCol="0" anchor="ctr"/>
          <a:lstStyle/>
          <a:p>
            <a:pPr indent="0" marL="0">
              <a:buNone/>
            </a:pPr>
            <a:r>
              <a:rPr lang="en-US" sz="1500" b="1" dirty="0">
                <a:solidFill>
                  <a:srgbClr val="ECE8E1"/>
                </a:solidFill>
                <a:latin typeface="Courier New" pitchFamily="34" charset="0"/>
                <a:ea typeface="Courier New" pitchFamily="34" charset="-122"/>
                <a:cs typeface="Courier New" pitchFamily="34" charset="-120"/>
              </a:rPr>
              <a:t>77.3%</a:t>
            </a:r>
            <a:endParaRPr lang="en-US" sz="1500" dirty="0"/>
          </a:p>
        </p:txBody>
      </p:sp>
      <p:sp>
        <p:nvSpPr>
          <p:cNvPr id="18" name="Text 16"/>
          <p:cNvSpPr txBox="1"/>
          <p:nvPr/>
        </p:nvSpPr>
        <p:spPr>
          <a:xfrm>
            <a:off x="5559552" y="3383280"/>
            <a:ext cx="2103120" cy="457200"/>
          </a:xfrm>
          <a:prstGeom prst="rect">
            <a:avLst/>
          </a:prstGeom>
          <a:noFill/>
          <a:ln/>
        </p:spPr>
        <p:txBody>
          <a:bodyPr wrap="square" lIns="0" tIns="0" rIns="0" bIns="0" rtlCol="0" anchor="ctr"/>
          <a:lstStyle/>
          <a:p>
            <a:pPr indent="0" marL="0">
              <a:buNone/>
            </a:pPr>
            <a:r>
              <a:rPr lang="en-US" sz="1600" dirty="0">
                <a:solidFill>
                  <a:srgbClr val="ECE8E1"/>
                </a:solidFill>
                <a:latin typeface="Calibri" pitchFamily="34" charset="0"/>
                <a:ea typeface="Calibri" pitchFamily="34" charset="-122"/>
                <a:cs typeface="Calibri" pitchFamily="34" charset="-120"/>
              </a:rPr>
              <a:t>Recommender, 2025</a:t>
            </a:r>
            <a:endParaRPr lang="en-US" sz="1600" dirty="0"/>
          </a:p>
        </p:txBody>
      </p:sp>
      <p:sp>
        <p:nvSpPr>
          <p:cNvPr id="19" name="Shape 17"/>
          <p:cNvSpPr/>
          <p:nvPr/>
        </p:nvSpPr>
        <p:spPr>
          <a:xfrm>
            <a:off x="7680960" y="3429000"/>
            <a:ext cx="2421057" cy="329184"/>
          </a:xfrm>
          <a:prstGeom prst="rect">
            <a:avLst/>
          </a:prstGeom>
          <a:solidFill>
            <a:srgbClr val="FF4655"/>
          </a:solidFill>
          <a:ln w="12700">
            <a:solidFill>
              <a:srgbClr val="333333"/>
            </a:solidFill>
            <a:prstDash val="solid"/>
          </a:ln>
        </p:spPr>
      </p:sp>
      <p:sp>
        <p:nvSpPr>
          <p:cNvPr id="20" name="Text 18"/>
          <p:cNvSpPr txBox="1"/>
          <p:nvPr/>
        </p:nvSpPr>
        <p:spPr>
          <a:xfrm>
            <a:off x="10193457" y="3410712"/>
            <a:ext cx="1188720" cy="365760"/>
          </a:xfrm>
          <a:prstGeom prst="rect">
            <a:avLst/>
          </a:prstGeom>
          <a:noFill/>
          <a:ln/>
        </p:spPr>
        <p:txBody>
          <a:bodyPr wrap="square" lIns="0" tIns="0" rIns="0" bIns="0" rtlCol="0" anchor="ctr"/>
          <a:lstStyle/>
          <a:p>
            <a:pPr indent="0" marL="0">
              <a:buNone/>
            </a:pPr>
            <a:r>
              <a:rPr lang="en-US" sz="1500" b="1" dirty="0">
                <a:solidFill>
                  <a:srgbClr val="ECE8E1"/>
                </a:solidFill>
                <a:latin typeface="Courier New" pitchFamily="34" charset="0"/>
                <a:ea typeface="Courier New" pitchFamily="34" charset="-122"/>
                <a:cs typeface="Courier New" pitchFamily="34" charset="-120"/>
              </a:rPr>
              <a:t>91.3%</a:t>
            </a:r>
            <a:endParaRPr lang="en-US" sz="1500" dirty="0"/>
          </a:p>
        </p:txBody>
      </p:sp>
      <p:sp>
        <p:nvSpPr>
          <p:cNvPr id="21" name="Text 19"/>
          <p:cNvSpPr txBox="1"/>
          <p:nvPr/>
        </p:nvSpPr>
        <p:spPr>
          <a:xfrm>
            <a:off x="5559552" y="3950208"/>
            <a:ext cx="2103120" cy="457200"/>
          </a:xfrm>
          <a:prstGeom prst="rect">
            <a:avLst/>
          </a:prstGeom>
          <a:noFill/>
          <a:ln/>
        </p:spPr>
        <p:txBody>
          <a:bodyPr wrap="square" lIns="0" tIns="0" rIns="0" bIns="0" rtlCol="0" anchor="ctr"/>
          <a:lstStyle/>
          <a:p>
            <a:pPr indent="0" marL="0">
              <a:buNone/>
            </a:pPr>
            <a:r>
              <a:rPr lang="en-US" sz="1600" dirty="0">
                <a:solidFill>
                  <a:srgbClr val="ECE8E1"/>
                </a:solidFill>
                <a:latin typeface="Calibri" pitchFamily="34" charset="0"/>
                <a:ea typeface="Calibri" pitchFamily="34" charset="-122"/>
                <a:cs typeface="Calibri" pitchFamily="34" charset="-120"/>
              </a:rPr>
              <a:t>Most-played rule, 2026</a:t>
            </a:r>
            <a:endParaRPr lang="en-US" sz="1600" dirty="0"/>
          </a:p>
        </p:txBody>
      </p:sp>
      <p:sp>
        <p:nvSpPr>
          <p:cNvPr id="22" name="Shape 20"/>
          <p:cNvSpPr/>
          <p:nvPr/>
        </p:nvSpPr>
        <p:spPr>
          <a:xfrm>
            <a:off x="7680960" y="3995928"/>
            <a:ext cx="1911919" cy="329184"/>
          </a:xfrm>
          <a:prstGeom prst="rect">
            <a:avLst/>
          </a:prstGeom>
          <a:solidFill>
            <a:srgbClr val="7C8894"/>
          </a:solidFill>
          <a:ln w="12700">
            <a:solidFill>
              <a:srgbClr val="333333"/>
            </a:solidFill>
            <a:prstDash val="solid"/>
          </a:ln>
        </p:spPr>
      </p:sp>
      <p:sp>
        <p:nvSpPr>
          <p:cNvPr id="23" name="Text 21"/>
          <p:cNvSpPr txBox="1"/>
          <p:nvPr/>
        </p:nvSpPr>
        <p:spPr>
          <a:xfrm>
            <a:off x="9684319" y="3977640"/>
            <a:ext cx="1188720" cy="365760"/>
          </a:xfrm>
          <a:prstGeom prst="rect">
            <a:avLst/>
          </a:prstGeom>
          <a:noFill/>
          <a:ln/>
        </p:spPr>
        <p:txBody>
          <a:bodyPr wrap="square" lIns="0" tIns="0" rIns="0" bIns="0" rtlCol="0" anchor="ctr"/>
          <a:lstStyle/>
          <a:p>
            <a:pPr indent="0" marL="0">
              <a:buNone/>
            </a:pPr>
            <a:r>
              <a:rPr lang="en-US" sz="1500" b="1" dirty="0">
                <a:solidFill>
                  <a:srgbClr val="ECE8E1"/>
                </a:solidFill>
                <a:latin typeface="Courier New" pitchFamily="34" charset="0"/>
                <a:ea typeface="Courier New" pitchFamily="34" charset="-122"/>
                <a:cs typeface="Courier New" pitchFamily="34" charset="-120"/>
              </a:rPr>
              <a:t>72.1%</a:t>
            </a:r>
            <a:endParaRPr lang="en-US" sz="1500" dirty="0"/>
          </a:p>
        </p:txBody>
      </p:sp>
      <p:sp>
        <p:nvSpPr>
          <p:cNvPr id="24" name="Text 22"/>
          <p:cNvSpPr txBox="1"/>
          <p:nvPr/>
        </p:nvSpPr>
        <p:spPr>
          <a:xfrm>
            <a:off x="5559552" y="4407408"/>
            <a:ext cx="2103120" cy="457200"/>
          </a:xfrm>
          <a:prstGeom prst="rect">
            <a:avLst/>
          </a:prstGeom>
          <a:noFill/>
          <a:ln/>
        </p:spPr>
        <p:txBody>
          <a:bodyPr wrap="square" lIns="0" tIns="0" rIns="0" bIns="0" rtlCol="0" anchor="ctr"/>
          <a:lstStyle/>
          <a:p>
            <a:pPr indent="0" marL="0">
              <a:buNone/>
            </a:pPr>
            <a:r>
              <a:rPr lang="en-US" sz="1600" dirty="0">
                <a:solidFill>
                  <a:srgbClr val="ECE8E1"/>
                </a:solidFill>
                <a:latin typeface="Calibri" pitchFamily="34" charset="0"/>
                <a:ea typeface="Calibri" pitchFamily="34" charset="-122"/>
                <a:cs typeface="Calibri" pitchFamily="34" charset="-120"/>
              </a:rPr>
              <a:t>Recommender, 2026</a:t>
            </a:r>
            <a:endParaRPr lang="en-US" sz="1600" dirty="0"/>
          </a:p>
        </p:txBody>
      </p:sp>
      <p:sp>
        <p:nvSpPr>
          <p:cNvPr id="25" name="Shape 23"/>
          <p:cNvSpPr/>
          <p:nvPr/>
        </p:nvSpPr>
        <p:spPr>
          <a:xfrm>
            <a:off x="7680960" y="4453128"/>
            <a:ext cx="2317638" cy="329184"/>
          </a:xfrm>
          <a:prstGeom prst="rect">
            <a:avLst/>
          </a:prstGeom>
          <a:solidFill>
            <a:srgbClr val="FF4655"/>
          </a:solidFill>
          <a:ln w="12700">
            <a:solidFill>
              <a:srgbClr val="333333"/>
            </a:solidFill>
            <a:prstDash val="solid"/>
          </a:ln>
        </p:spPr>
      </p:sp>
      <p:sp>
        <p:nvSpPr>
          <p:cNvPr id="26" name="Text 24"/>
          <p:cNvSpPr txBox="1"/>
          <p:nvPr/>
        </p:nvSpPr>
        <p:spPr>
          <a:xfrm>
            <a:off x="10090038" y="4434840"/>
            <a:ext cx="1188720" cy="365760"/>
          </a:xfrm>
          <a:prstGeom prst="rect">
            <a:avLst/>
          </a:prstGeom>
          <a:noFill/>
          <a:ln/>
        </p:spPr>
        <p:txBody>
          <a:bodyPr wrap="square" lIns="0" tIns="0" rIns="0" bIns="0" rtlCol="0" anchor="ctr"/>
          <a:lstStyle/>
          <a:p>
            <a:pPr indent="0" marL="0">
              <a:buNone/>
            </a:pPr>
            <a:r>
              <a:rPr lang="en-US" sz="1500" b="1" dirty="0">
                <a:solidFill>
                  <a:srgbClr val="ECE8E1"/>
                </a:solidFill>
                <a:latin typeface="Courier New" pitchFamily="34" charset="0"/>
                <a:ea typeface="Courier New" pitchFamily="34" charset="-122"/>
                <a:cs typeface="Courier New" pitchFamily="34" charset="-120"/>
              </a:rPr>
              <a:t>87.4%</a:t>
            </a:r>
            <a:endParaRPr lang="en-US" sz="1500" dirty="0"/>
          </a:p>
        </p:txBody>
      </p:sp>
      <p:sp>
        <p:nvSpPr>
          <p:cNvPr id="27" name="Text 25"/>
          <p:cNvSpPr txBox="1"/>
          <p:nvPr/>
        </p:nvSpPr>
        <p:spPr>
          <a:xfrm>
            <a:off x="5559552" y="5074920"/>
            <a:ext cx="5705856" cy="8229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+14 and +15 points over the most-played rule, even allowing for luck</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2240280"/>
            <a:ext cx="777240" cy="777240"/>
          </a:xfrm>
          <a:prstGeom prst="ellipse">
            <a:avLst/>
          </a:prstGeom>
          <a:solidFill>
            <a:srgbClr val="FF4655"/>
          </a:solidFill>
          <a:ln w="12700">
            <a:solidFill>
              <a:srgbClr val="FF4655"/>
            </a:solidFill>
            <a:prstDash val="solid"/>
          </a:ln>
        </p:spPr>
      </p:sp>
      <p:sp>
        <p:nvSpPr>
          <p:cNvPr id="3" name="Text 1"/>
          <p:cNvSpPr txBox="1"/>
          <p:nvPr/>
        </p:nvSpPr>
        <p:spPr>
          <a:xfrm>
            <a:off x="640080" y="22402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02</a:t>
            </a:r>
            <a:endParaRPr lang="en-US" sz="2400" dirty="0"/>
          </a:p>
        </p:txBody>
      </p:sp>
      <p:sp>
        <p:nvSpPr>
          <p:cNvPr id="4" name="Text 2"/>
          <p:cNvSpPr txBox="1"/>
          <p:nvPr/>
        </p:nvSpPr>
        <p:spPr>
          <a:xfrm>
            <a:off x="640080" y="320040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Live demo</a:t>
            </a:r>
            <a:endParaRPr lang="en-US" sz="4400" dirty="0"/>
          </a:p>
        </p:txBody>
      </p:sp>
      <p:sp>
        <p:nvSpPr>
          <p:cNvPr id="5" name="Text 3"/>
          <p:cNvSpPr txBox="1"/>
          <p:nvPr/>
        </p:nvSpPr>
        <p:spPr>
          <a:xfrm>
            <a:off x="640080" y="4160520"/>
            <a:ext cx="5486400" cy="822960"/>
          </a:xfrm>
          <a:prstGeom prst="rect">
            <a:avLst/>
          </a:prstGeom>
          <a:noFill/>
          <a:ln/>
        </p:spPr>
        <p:txBody>
          <a:bodyPr wrap="square" lIns="0" tIns="0" rIns="0" bIns="0" rtlCol="0" anchor="t"/>
          <a:lstStyle/>
          <a:p>
            <a:pPr indent="0" marL="0">
              <a:buNone/>
            </a:pPr>
            <a:r>
              <a:rPr lang="en-US" sz="2000" dirty="0">
                <a:solidFill>
                  <a:srgbClr val="B4BDC6"/>
                </a:solidFill>
                <a:latin typeface="Calibri" pitchFamily="34" charset="0"/>
                <a:ea typeface="Calibri" pitchFamily="34" charset="-122"/>
                <a:cs typeface="Calibri" pitchFamily="34" charset="-120"/>
              </a:rPr>
              <a:t>Three pages: what the pros would pick, how the meta moved, and who wins a map.</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What to watch for</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874520"/>
            <a:ext cx="3383280" cy="4297680"/>
          </a:xfrm>
          <a:prstGeom prst="roundRect">
            <a:avLst>
              <a:gd name="adj" fmla="val 2162"/>
            </a:avLst>
          </a:prstGeom>
          <a:solidFill>
            <a:srgbClr val="3A1720">
              <a:alpha val="88000"/>
            </a:srgbClr>
          </a:solidFill>
          <a:ln w="12700">
            <a:solidFill>
              <a:srgbClr val="FF4655">
                <a:alpha val="75000"/>
              </a:srgbClr>
            </a:solidFill>
            <a:prstDash val="solid"/>
          </a:ln>
        </p:spPr>
      </p:sp>
      <p:sp>
        <p:nvSpPr>
          <p:cNvPr id="5" name="Shape 3"/>
          <p:cNvSpPr/>
          <p:nvPr/>
        </p:nvSpPr>
        <p:spPr>
          <a:xfrm>
            <a:off x="822960" y="2057400"/>
            <a:ext cx="3017520" cy="1899666"/>
          </a:xfrm>
          <a:prstGeom prst="rect">
            <a:avLst/>
          </a:prstGeom>
          <a:solidFill>
            <a:srgbClr val="0F1923"/>
          </a:solidFill>
          <a:ln w="9525">
            <a:solidFill>
              <a:srgbClr val="FFFFFF">
                <a:alpha val="30000"/>
              </a:srgbClr>
            </a:solidFill>
            <a:prstDash val="solid"/>
          </a:ln>
        </p:spPr>
      </p:sp>
      <p:pic>
        <p:nvPicPr>
          <p:cNvPr id="6" name="Image 0" descr="The agent recommender page">    </p:cNvPr>
          <p:cNvPicPr>
            <a:picLocks noChangeAspect="1"/>
          </p:cNvPicPr>
          <p:nvPr/>
        </p:nvPicPr>
        <p:blipFill>
          <a:blip r:embed="rId2"/>
          <a:stretch>
            <a:fillRect/>
          </a:stretch>
        </p:blipFill>
        <p:spPr>
          <a:xfrm>
            <a:off x="841248" y="2075688"/>
            <a:ext cx="2980944" cy="1863090"/>
          </a:xfrm>
          <a:prstGeom prst="rect">
            <a:avLst/>
          </a:prstGeom>
        </p:spPr>
      </p:pic>
      <p:sp>
        <p:nvSpPr>
          <p:cNvPr id="7" name="Text 4"/>
          <p:cNvSpPr txBox="1"/>
          <p:nvPr/>
        </p:nvSpPr>
        <p:spPr>
          <a:xfrm>
            <a:off x="914400" y="4194810"/>
            <a:ext cx="28346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Agent recommender</a:t>
            </a:r>
            <a:endParaRPr lang="en-US" sz="1900" dirty="0"/>
          </a:p>
        </p:txBody>
      </p:sp>
      <p:sp>
        <p:nvSpPr>
          <p:cNvPr id="8" name="Text 5"/>
          <p:cNvSpPr txBox="1"/>
          <p:nvPr/>
        </p:nvSpPr>
        <p:spPr>
          <a:xfrm>
            <a:off x="914400" y="4652010"/>
            <a:ext cx="2834640" cy="1371600"/>
          </a:xfrm>
          <a:prstGeom prst="rect">
            <a:avLst/>
          </a:prstGeom>
          <a:noFill/>
          <a:ln/>
        </p:spPr>
        <p:txBody>
          <a:bodyPr wrap="square" lIns="0" tIns="0" rIns="0" bIns="0" rtlCol="0" anchor="t"/>
          <a:lstStyle/>
          <a:p>
            <a:pPr indent="0" marL="0">
              <a:buNone/>
            </a:pPr>
            <a:r>
              <a:rPr lang="en-US" sz="2100" dirty="0">
                <a:solidFill>
                  <a:srgbClr val="ECE8E1"/>
                </a:solidFill>
                <a:latin typeface="Calibri" pitchFamily="34" charset="0"/>
                <a:ea typeface="Calibri" pitchFamily="34" charset="-122"/>
                <a:cs typeface="Calibri" pitchFamily="34" charset="-120"/>
              </a:rPr>
              <a:t>Select a map and agents for recommendations</a:t>
            </a:r>
            <a:endParaRPr lang="en-US" sz="2100" dirty="0"/>
          </a:p>
        </p:txBody>
      </p:sp>
      <p:sp>
        <p:nvSpPr>
          <p:cNvPr id="9" name="Shape 6"/>
          <p:cNvSpPr/>
          <p:nvPr/>
        </p:nvSpPr>
        <p:spPr>
          <a:xfrm>
            <a:off x="4389120" y="1874520"/>
            <a:ext cx="3383280" cy="4297680"/>
          </a:xfrm>
          <a:prstGeom prst="roundRect">
            <a:avLst>
              <a:gd name="adj" fmla="val 2162"/>
            </a:avLst>
          </a:prstGeom>
          <a:solidFill>
            <a:srgbClr val="0F1923">
              <a:alpha val="78000"/>
            </a:srgbClr>
          </a:solidFill>
          <a:ln w="9525">
            <a:solidFill>
              <a:srgbClr val="FFFFFF">
                <a:alpha val="20000"/>
              </a:srgbClr>
            </a:solidFill>
            <a:prstDash val="solid"/>
          </a:ln>
        </p:spPr>
      </p:sp>
      <p:sp>
        <p:nvSpPr>
          <p:cNvPr id="10" name="Shape 7"/>
          <p:cNvSpPr/>
          <p:nvPr/>
        </p:nvSpPr>
        <p:spPr>
          <a:xfrm>
            <a:off x="4572000" y="2057400"/>
            <a:ext cx="3017520" cy="1899666"/>
          </a:xfrm>
          <a:prstGeom prst="rect">
            <a:avLst/>
          </a:prstGeom>
          <a:solidFill>
            <a:srgbClr val="0F1923"/>
          </a:solidFill>
          <a:ln w="9525">
            <a:solidFill>
              <a:srgbClr val="FFFFFF">
                <a:alpha val="30000"/>
              </a:srgbClr>
            </a:solidFill>
            <a:prstDash val="solid"/>
          </a:ln>
        </p:spPr>
      </p:sp>
      <p:pic>
        <p:nvPicPr>
          <p:cNvPr id="11" name="Image 1" descr="The How the meta moved page">    </p:cNvPr>
          <p:cNvPicPr>
            <a:picLocks noChangeAspect="1"/>
          </p:cNvPicPr>
          <p:nvPr/>
        </p:nvPicPr>
        <p:blipFill>
          <a:blip r:embed="rId3"/>
          <a:stretch>
            <a:fillRect/>
          </a:stretch>
        </p:blipFill>
        <p:spPr>
          <a:xfrm>
            <a:off x="4590288" y="2075688"/>
            <a:ext cx="2980944" cy="1863090"/>
          </a:xfrm>
          <a:prstGeom prst="rect">
            <a:avLst/>
          </a:prstGeom>
        </p:spPr>
      </p:pic>
      <p:sp>
        <p:nvSpPr>
          <p:cNvPr id="12" name="Text 8"/>
          <p:cNvSpPr txBox="1"/>
          <p:nvPr/>
        </p:nvSpPr>
        <p:spPr>
          <a:xfrm>
            <a:off x="4663440" y="4194810"/>
            <a:ext cx="28346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How the meta moved</a:t>
            </a:r>
            <a:endParaRPr lang="en-US" sz="1900" dirty="0"/>
          </a:p>
        </p:txBody>
      </p:sp>
      <p:sp>
        <p:nvSpPr>
          <p:cNvPr id="13" name="Text 9"/>
          <p:cNvSpPr txBox="1"/>
          <p:nvPr/>
        </p:nvSpPr>
        <p:spPr>
          <a:xfrm>
            <a:off x="4663440" y="4652010"/>
            <a:ext cx="2834640" cy="1371600"/>
          </a:xfrm>
          <a:prstGeom prst="rect">
            <a:avLst/>
          </a:prstGeom>
          <a:noFill/>
          <a:ln/>
        </p:spPr>
        <p:txBody>
          <a:bodyPr wrap="square" lIns="0" tIns="0" rIns="0" bIns="0" rtlCol="0" anchor="t"/>
          <a:lstStyle/>
          <a:p>
            <a:pPr indent="0" marL="0">
              <a:buNone/>
            </a:pPr>
            <a:r>
              <a:rPr lang="en-US" sz="2100" dirty="0">
                <a:solidFill>
                  <a:srgbClr val="ECE8E1"/>
                </a:solidFill>
                <a:latin typeface="Calibri" pitchFamily="34" charset="0"/>
                <a:ea typeface="Calibri" pitchFamily="34" charset="-122"/>
                <a:cs typeface="Calibri" pitchFamily="34" charset="-120"/>
              </a:rPr>
              <a:t>Pick rates month by month, per agent</a:t>
            </a:r>
            <a:endParaRPr lang="en-US" sz="2100" dirty="0"/>
          </a:p>
        </p:txBody>
      </p:sp>
      <p:sp>
        <p:nvSpPr>
          <p:cNvPr id="14" name="Shape 10"/>
          <p:cNvSpPr/>
          <p:nvPr/>
        </p:nvSpPr>
        <p:spPr>
          <a:xfrm>
            <a:off x="8138160" y="1874520"/>
            <a:ext cx="3383280" cy="4297680"/>
          </a:xfrm>
          <a:prstGeom prst="roundRect">
            <a:avLst>
              <a:gd name="adj" fmla="val 2162"/>
            </a:avLst>
          </a:prstGeom>
          <a:solidFill>
            <a:srgbClr val="0F1923">
              <a:alpha val="78000"/>
            </a:srgbClr>
          </a:solidFill>
          <a:ln w="9525">
            <a:solidFill>
              <a:srgbClr val="FFFFFF">
                <a:alpha val="20000"/>
              </a:srgbClr>
            </a:solidFill>
            <a:prstDash val="solid"/>
          </a:ln>
        </p:spPr>
      </p:sp>
      <p:sp>
        <p:nvSpPr>
          <p:cNvPr id="15" name="Shape 11"/>
          <p:cNvSpPr/>
          <p:nvPr/>
        </p:nvSpPr>
        <p:spPr>
          <a:xfrm>
            <a:off x="8321040" y="2057400"/>
            <a:ext cx="3017520" cy="1899666"/>
          </a:xfrm>
          <a:prstGeom prst="rect">
            <a:avLst/>
          </a:prstGeom>
          <a:solidFill>
            <a:srgbClr val="0F1923"/>
          </a:solidFill>
          <a:ln w="9525">
            <a:solidFill>
              <a:srgbClr val="FFFFFF">
                <a:alpha val="30000"/>
              </a:srgbClr>
            </a:solidFill>
            <a:prstDash val="solid"/>
          </a:ln>
        </p:spPr>
      </p:sp>
      <p:pic>
        <p:nvPicPr>
          <p:cNvPr id="16" name="Image 2" descr="The win predictor page">    </p:cNvPr>
          <p:cNvPicPr>
            <a:picLocks noChangeAspect="1"/>
          </p:cNvPicPr>
          <p:nvPr/>
        </p:nvPicPr>
        <p:blipFill>
          <a:blip r:embed="rId4"/>
          <a:stretch>
            <a:fillRect/>
          </a:stretch>
        </p:blipFill>
        <p:spPr>
          <a:xfrm>
            <a:off x="8339328" y="2075688"/>
            <a:ext cx="2980944" cy="1863090"/>
          </a:xfrm>
          <a:prstGeom prst="rect">
            <a:avLst/>
          </a:prstGeom>
        </p:spPr>
      </p:pic>
      <p:sp>
        <p:nvSpPr>
          <p:cNvPr id="17" name="Text 12"/>
          <p:cNvSpPr txBox="1"/>
          <p:nvPr/>
        </p:nvSpPr>
        <p:spPr>
          <a:xfrm>
            <a:off x="8412480" y="4194810"/>
            <a:ext cx="28346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Win predictor</a:t>
            </a:r>
            <a:endParaRPr lang="en-US" sz="1900" dirty="0"/>
          </a:p>
        </p:txBody>
      </p:sp>
      <p:sp>
        <p:nvSpPr>
          <p:cNvPr id="18" name="Text 13"/>
          <p:cNvSpPr txBox="1"/>
          <p:nvPr/>
        </p:nvSpPr>
        <p:spPr>
          <a:xfrm>
            <a:off x="8412480" y="4652010"/>
            <a:ext cx="2834640" cy="1371600"/>
          </a:xfrm>
          <a:prstGeom prst="rect">
            <a:avLst/>
          </a:prstGeom>
          <a:noFill/>
          <a:ln/>
        </p:spPr>
        <p:txBody>
          <a:bodyPr wrap="square" lIns="0" tIns="0" rIns="0" bIns="0" rtlCol="0" anchor="t"/>
          <a:lstStyle/>
          <a:p>
            <a:pPr indent="0" marL="0">
              <a:buNone/>
            </a:pPr>
            <a:r>
              <a:rPr lang="en-US" sz="2100" dirty="0">
                <a:solidFill>
                  <a:srgbClr val="ECE8E1"/>
                </a:solidFill>
                <a:latin typeface="Calibri" pitchFamily="34" charset="0"/>
                <a:ea typeface="Calibri" pitchFamily="34" charset="-122"/>
                <a:cs typeface="Calibri" pitchFamily="34" charset="-120"/>
              </a:rPr>
              <a:t>Testing whether agent picks change who wins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2240280"/>
            <a:ext cx="777240" cy="777240"/>
          </a:xfrm>
          <a:prstGeom prst="ellipse">
            <a:avLst/>
          </a:prstGeom>
          <a:solidFill>
            <a:srgbClr val="FF4655"/>
          </a:solidFill>
          <a:ln w="12700">
            <a:solidFill>
              <a:srgbClr val="FF4655"/>
            </a:solidFill>
            <a:prstDash val="solid"/>
          </a:ln>
        </p:spPr>
      </p:sp>
      <p:sp>
        <p:nvSpPr>
          <p:cNvPr id="3" name="Text 1"/>
          <p:cNvSpPr txBox="1"/>
          <p:nvPr/>
        </p:nvSpPr>
        <p:spPr>
          <a:xfrm>
            <a:off x="640080" y="22402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03</a:t>
            </a:r>
            <a:endParaRPr lang="en-US" sz="2400" dirty="0"/>
          </a:p>
        </p:txBody>
      </p:sp>
      <p:sp>
        <p:nvSpPr>
          <p:cNvPr id="4" name="Text 2"/>
          <p:cNvSpPr txBox="1"/>
          <p:nvPr/>
        </p:nvSpPr>
        <p:spPr>
          <a:xfrm>
            <a:off x="640080" y="320040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What I learnt</a:t>
            </a:r>
            <a:endParaRPr lang="en-US" sz="4400" dirty="0"/>
          </a:p>
        </p:txBody>
      </p:sp>
      <p:sp>
        <p:nvSpPr>
          <p:cNvPr id="5" name="Text 3"/>
          <p:cNvSpPr txBox="1"/>
          <p:nvPr/>
        </p:nvSpPr>
        <p:spPr>
          <a:xfrm>
            <a:off x="640080" y="4160520"/>
            <a:ext cx="5486400" cy="822960"/>
          </a:xfrm>
          <a:prstGeom prst="rect">
            <a:avLst/>
          </a:prstGeom>
          <a:noFill/>
          <a:ln/>
        </p:spPr>
        <p:txBody>
          <a:bodyPr wrap="square" lIns="0" tIns="0" rIns="0" bIns="0" rtlCol="0" anchor="t"/>
          <a:lstStyle/>
          <a:p>
            <a:pPr indent="0" marL="0">
              <a:buNone/>
            </a:pPr>
            <a:r>
              <a:rPr lang="en-US" sz="2000" dirty="0">
                <a:solidFill>
                  <a:srgbClr val="B4BDC6"/>
                </a:solidFill>
                <a:latin typeface="Calibri" pitchFamily="34" charset="0"/>
                <a:ea typeface="Calibri" pitchFamily="34" charset="-122"/>
                <a:cs typeface="Calibri" pitchFamily="34" charset="-120"/>
              </a:rPr>
              <a:t>What surprised me, and what I'd improve next.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Four lessons I learnt</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874520"/>
            <a:ext cx="5257800" cy="2057400"/>
          </a:xfrm>
          <a:prstGeom prst="roundRect">
            <a:avLst>
              <a:gd name="adj" fmla="val 3556"/>
            </a:avLst>
          </a:prstGeom>
          <a:solidFill>
            <a:srgbClr val="3A1720">
              <a:alpha val="88000"/>
            </a:srgbClr>
          </a:solidFill>
          <a:ln w="12700">
            <a:solidFill>
              <a:srgbClr val="FF4655">
                <a:alpha val="75000"/>
              </a:srgbClr>
            </a:solidFill>
            <a:prstDash val="solid"/>
          </a:ln>
        </p:spPr>
      </p:sp>
      <p:sp>
        <p:nvSpPr>
          <p:cNvPr id="5" name="Text 3"/>
          <p:cNvSpPr txBox="1"/>
          <p:nvPr/>
        </p:nvSpPr>
        <p:spPr>
          <a:xfrm>
            <a:off x="932688" y="2093976"/>
            <a:ext cx="4672584" cy="530352"/>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Split by time, not at random</a:t>
            </a:r>
            <a:endParaRPr lang="en-US" sz="2200" dirty="0"/>
          </a:p>
        </p:txBody>
      </p:sp>
      <p:sp>
        <p:nvSpPr>
          <p:cNvPr id="6" name="Text 4"/>
          <p:cNvSpPr txBox="1"/>
          <p:nvPr/>
        </p:nvSpPr>
        <p:spPr>
          <a:xfrm>
            <a:off x="932688" y="2697480"/>
            <a:ext cx="4672584" cy="1069848"/>
          </a:xfrm>
          <a:prstGeom prst="rect">
            <a:avLst/>
          </a:prstGeom>
          <a:noFill/>
          <a:ln/>
        </p:spPr>
        <p:txBody>
          <a:bodyPr wrap="square" lIns="0" tIns="0" rIns="0" bIns="0" rtlCol="0" anchor="t"/>
          <a:lstStyle/>
          <a:p>
            <a:pPr indent="0" marL="0">
              <a:buNone/>
            </a:pPr>
            <a:r>
              <a:rPr lang="en-US" sz="2300" dirty="0">
                <a:solidFill>
                  <a:srgbClr val="ECE8E1"/>
                </a:solidFill>
                <a:latin typeface="Calibri" pitchFamily="34" charset="0"/>
                <a:ea typeface="Calibri" pitchFamily="34" charset="-122"/>
                <a:cs typeface="Calibri" pitchFamily="34" charset="-120"/>
              </a:rPr>
              <a:t>A random split lets the model peek at the future meta.</a:t>
            </a:r>
            <a:endParaRPr lang="en-US" sz="2300" dirty="0"/>
          </a:p>
        </p:txBody>
      </p:sp>
      <p:sp>
        <p:nvSpPr>
          <p:cNvPr id="7" name="Shape 5"/>
          <p:cNvSpPr/>
          <p:nvPr/>
        </p:nvSpPr>
        <p:spPr>
          <a:xfrm>
            <a:off x="6263640" y="1874520"/>
            <a:ext cx="5257800" cy="2057400"/>
          </a:xfrm>
          <a:prstGeom prst="roundRect">
            <a:avLst>
              <a:gd name="adj" fmla="val 3556"/>
            </a:avLst>
          </a:prstGeom>
          <a:solidFill>
            <a:srgbClr val="0F1923">
              <a:alpha val="78000"/>
            </a:srgbClr>
          </a:solidFill>
          <a:ln w="9525">
            <a:solidFill>
              <a:srgbClr val="FFFFFF">
                <a:alpha val="20000"/>
              </a:srgbClr>
            </a:solidFill>
            <a:prstDash val="solid"/>
          </a:ln>
        </p:spPr>
      </p:sp>
      <p:sp>
        <p:nvSpPr>
          <p:cNvPr id="8" name="Text 6"/>
          <p:cNvSpPr txBox="1"/>
          <p:nvPr/>
        </p:nvSpPr>
        <p:spPr>
          <a:xfrm>
            <a:off x="6556248" y="2093976"/>
            <a:ext cx="4672584" cy="530352"/>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The simple rule is hard to beat</a:t>
            </a:r>
            <a:endParaRPr lang="en-US" sz="2200" dirty="0"/>
          </a:p>
        </p:txBody>
      </p:sp>
      <p:sp>
        <p:nvSpPr>
          <p:cNvPr id="9" name="Text 7"/>
          <p:cNvSpPr txBox="1"/>
          <p:nvPr/>
        </p:nvSpPr>
        <p:spPr>
          <a:xfrm>
            <a:off x="6556248" y="2697480"/>
            <a:ext cx="4672584" cy="1069848"/>
          </a:xfrm>
          <a:prstGeom prst="rect">
            <a:avLst/>
          </a:prstGeom>
          <a:noFill/>
          <a:ln/>
        </p:spPr>
        <p:txBody>
          <a:bodyPr wrap="square" lIns="0" tIns="0" rIns="0" bIns="0" rtlCol="0" anchor="t"/>
          <a:lstStyle/>
          <a:p>
            <a:pPr indent="0" marL="0">
              <a:buNone/>
            </a:pPr>
            <a:r>
              <a:rPr lang="en-US" sz="2300" dirty="0">
                <a:solidFill>
                  <a:srgbClr val="ECE8E1"/>
                </a:solidFill>
                <a:latin typeface="Calibri" pitchFamily="34" charset="0"/>
                <a:ea typeface="Calibri" pitchFamily="34" charset="-122"/>
                <a:cs typeface="Calibri" pitchFamily="34" charset="-120"/>
              </a:rPr>
              <a:t>'What pros played lately' already gets 77%.</a:t>
            </a:r>
            <a:endParaRPr lang="en-US" sz="2300" dirty="0"/>
          </a:p>
        </p:txBody>
      </p:sp>
      <p:sp>
        <p:nvSpPr>
          <p:cNvPr id="10" name="Shape 8"/>
          <p:cNvSpPr/>
          <p:nvPr/>
        </p:nvSpPr>
        <p:spPr>
          <a:xfrm>
            <a:off x="640080" y="4206240"/>
            <a:ext cx="5257800" cy="2057400"/>
          </a:xfrm>
          <a:prstGeom prst="roundRect">
            <a:avLst>
              <a:gd name="adj" fmla="val 3556"/>
            </a:avLst>
          </a:prstGeom>
          <a:solidFill>
            <a:srgbClr val="0F1923">
              <a:alpha val="78000"/>
            </a:srgbClr>
          </a:solidFill>
          <a:ln w="9525">
            <a:solidFill>
              <a:srgbClr val="FFFFFF">
                <a:alpha val="20000"/>
              </a:srgbClr>
            </a:solidFill>
            <a:prstDash val="solid"/>
          </a:ln>
        </p:spPr>
      </p:sp>
      <p:sp>
        <p:nvSpPr>
          <p:cNvPr id="11" name="Text 9"/>
          <p:cNvSpPr txBox="1"/>
          <p:nvPr/>
        </p:nvSpPr>
        <p:spPr>
          <a:xfrm>
            <a:off x="932688" y="4425696"/>
            <a:ext cx="4672584" cy="530352"/>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Winners are far harder to predict</a:t>
            </a:r>
            <a:endParaRPr lang="en-US" sz="2200" dirty="0"/>
          </a:p>
        </p:txBody>
      </p:sp>
      <p:sp>
        <p:nvSpPr>
          <p:cNvPr id="12" name="Text 10"/>
          <p:cNvSpPr txBox="1"/>
          <p:nvPr/>
        </p:nvSpPr>
        <p:spPr>
          <a:xfrm>
            <a:off x="932688" y="5029200"/>
            <a:ext cx="4672584" cy="1069848"/>
          </a:xfrm>
          <a:prstGeom prst="rect">
            <a:avLst/>
          </a:prstGeom>
          <a:noFill/>
          <a:ln/>
        </p:spPr>
        <p:txBody>
          <a:bodyPr wrap="square" lIns="0" tIns="0" rIns="0" bIns="0" rtlCol="0" anchor="t"/>
          <a:lstStyle/>
          <a:p>
            <a:pPr indent="0" marL="0">
              <a:buNone/>
            </a:pPr>
            <a:r>
              <a:rPr lang="en-US" sz="2300" dirty="0">
                <a:solidFill>
                  <a:srgbClr val="ECE8E1"/>
                </a:solidFill>
                <a:latin typeface="Calibri" pitchFamily="34" charset="0"/>
                <a:ea typeface="Calibri" pitchFamily="34" charset="-122"/>
                <a:cs typeface="Calibri" pitchFamily="34" charset="-120"/>
              </a:rPr>
              <a:t>Best win model: 54.5%. 'Map picker wins': 52.9%.</a:t>
            </a:r>
            <a:endParaRPr lang="en-US" sz="2300" dirty="0"/>
          </a:p>
        </p:txBody>
      </p:sp>
      <p:sp>
        <p:nvSpPr>
          <p:cNvPr id="13" name="Shape 11"/>
          <p:cNvSpPr/>
          <p:nvPr/>
        </p:nvSpPr>
        <p:spPr>
          <a:xfrm>
            <a:off x="6263640" y="4206240"/>
            <a:ext cx="5257800" cy="2057400"/>
          </a:xfrm>
          <a:prstGeom prst="roundRect">
            <a:avLst>
              <a:gd name="adj" fmla="val 3556"/>
            </a:avLst>
          </a:prstGeom>
          <a:solidFill>
            <a:srgbClr val="0F1923">
              <a:alpha val="78000"/>
            </a:srgbClr>
          </a:solidFill>
          <a:ln w="9525">
            <a:solidFill>
              <a:srgbClr val="FFFFFF">
                <a:alpha val="20000"/>
              </a:srgbClr>
            </a:solidFill>
            <a:prstDash val="solid"/>
          </a:ln>
        </p:spPr>
      </p:sp>
      <p:sp>
        <p:nvSpPr>
          <p:cNvPr id="14" name="Text 12"/>
          <p:cNvSpPr txBox="1"/>
          <p:nvPr/>
        </p:nvSpPr>
        <p:spPr>
          <a:xfrm>
            <a:off x="6556248" y="4425696"/>
            <a:ext cx="4672584" cy="530352"/>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Years of data can shrink to months</a:t>
            </a:r>
            <a:endParaRPr lang="en-US" sz="2200" dirty="0"/>
          </a:p>
        </p:txBody>
      </p:sp>
      <p:sp>
        <p:nvSpPr>
          <p:cNvPr id="15" name="Text 13"/>
          <p:cNvSpPr txBox="1"/>
          <p:nvPr/>
        </p:nvSpPr>
        <p:spPr>
          <a:xfrm>
            <a:off x="6556248" y="5029200"/>
            <a:ext cx="4672584" cy="1069848"/>
          </a:xfrm>
          <a:prstGeom prst="rect">
            <a:avLst/>
          </a:prstGeom>
          <a:noFill/>
          <a:ln/>
        </p:spPr>
        <p:txBody>
          <a:bodyPr wrap="square" lIns="0" tIns="0" rIns="0" bIns="0" rtlCol="0" anchor="t"/>
          <a:lstStyle/>
          <a:p>
            <a:pPr indent="0" marL="0">
              <a:buNone/>
            </a:pPr>
            <a:r>
              <a:rPr lang="en-US" sz="2300" dirty="0">
                <a:solidFill>
                  <a:srgbClr val="ECE8E1"/>
                </a:solidFill>
                <a:latin typeface="Calibri" pitchFamily="34" charset="0"/>
                <a:ea typeface="Calibri" pitchFamily="34" charset="-122"/>
                <a:cs typeface="Calibri" pitchFamily="34" charset="-120"/>
              </a:rPr>
              <a:t>The game keeps changing: a year-old game counts under 1%.</a:t>
            </a:r>
            <a:endParaRPr lang="en-US" sz="2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What I'd improve</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sp>
        <p:nvSpPr>
          <p:cNvPr id="4" name="Shape 2"/>
          <p:cNvSpPr/>
          <p:nvPr/>
        </p:nvSpPr>
        <p:spPr>
          <a:xfrm>
            <a:off x="640080" y="1874520"/>
            <a:ext cx="5257800" cy="4297680"/>
          </a:xfrm>
          <a:prstGeom prst="roundRect">
            <a:avLst>
              <a:gd name="adj" fmla="val 1702"/>
            </a:avLst>
          </a:prstGeom>
          <a:solidFill>
            <a:srgbClr val="0F1923">
              <a:alpha val="78000"/>
            </a:srgbClr>
          </a:solidFill>
          <a:ln w="9525">
            <a:solidFill>
              <a:srgbClr val="FFFFFF">
                <a:alpha val="20000"/>
              </a:srgbClr>
            </a:solidFill>
            <a:prstDash val="solid"/>
          </a:ln>
        </p:spPr>
      </p:sp>
      <p:sp>
        <p:nvSpPr>
          <p:cNvPr id="5" name="Text 3"/>
          <p:cNvSpPr txBox="1"/>
          <p:nvPr/>
        </p:nvSpPr>
        <p:spPr>
          <a:xfrm>
            <a:off x="896112" y="2075688"/>
            <a:ext cx="474573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LIMITS TODAY</a:t>
            </a:r>
            <a:endParaRPr lang="en-US" sz="1300" dirty="0"/>
          </a:p>
        </p:txBody>
      </p:sp>
      <p:sp>
        <p:nvSpPr>
          <p:cNvPr id="6" name="Text 4"/>
          <p:cNvSpPr txBox="1"/>
          <p:nvPr/>
        </p:nvSpPr>
        <p:spPr>
          <a:xfrm>
            <a:off x="896112" y="2478024"/>
            <a:ext cx="4745736" cy="3474720"/>
          </a:xfrm>
          <a:prstGeom prst="rect">
            <a:avLst/>
          </a:prstGeom>
          <a:noFill/>
          <a:ln/>
        </p:spPr>
        <p:txBody>
          <a:bodyPr wrap="square" lIns="0" tIns="0" rIns="0" bIns="0" rtlCol="0" anchor="t"/>
          <a:lstStyle/>
          <a:p>
            <a:pPr marL="342900" indent="-342900">
              <a:spcAft>
                <a:spcPts val="1500"/>
              </a:spcAft>
              <a:buSzPct val="100000"/>
              <a:buChar char="•"/>
            </a:pPr>
            <a:r>
              <a:rPr lang="en-US" sz="3000" dirty="0">
                <a:solidFill>
                  <a:srgbClr val="ECE8E1"/>
                </a:solidFill>
                <a:latin typeface="Calibri" pitchFamily="34" charset="0"/>
                <a:ea typeface="Calibri" pitchFamily="34" charset="-122"/>
                <a:cs typeface="Calibri" pitchFamily="34" charset="-120"/>
              </a:rPr>
              <a:t>Shows what pros pick, not what wins</a:t>
            </a:r>
            <a:endParaRPr lang="en-US" sz="3000" dirty="0"/>
          </a:p>
          <a:p>
            <a:pPr marL="342900" indent="-342900">
              <a:spcAft>
                <a:spcPts val="1500"/>
              </a:spcAft>
              <a:buSzPct val="100000"/>
              <a:buChar char="•"/>
            </a:pPr>
            <a:r>
              <a:rPr lang="en-US" sz="3000" dirty="0">
                <a:solidFill>
                  <a:srgbClr val="ECE8E1"/>
                </a:solidFill>
                <a:latin typeface="Calibri" pitchFamily="34" charset="0"/>
                <a:ea typeface="Calibri" pitchFamily="34" charset="-122"/>
                <a:cs typeface="Calibri" pitchFamily="34" charset="-120"/>
              </a:rPr>
              <a:t>Weaker with fewer agents locked in</a:t>
            </a:r>
            <a:endParaRPr lang="en-US" sz="3000" dirty="0"/>
          </a:p>
          <a:p>
            <a:pPr marL="342900" indent="-342900">
              <a:spcAft>
                <a:spcPts val="1500"/>
              </a:spcAft>
              <a:buSzPct val="100000"/>
              <a:buChar char="•"/>
            </a:pPr>
            <a:r>
              <a:rPr lang="en-US" sz="3000" dirty="0">
                <a:solidFill>
                  <a:srgbClr val="ECE8E1"/>
                </a:solidFill>
                <a:latin typeface="Calibri" pitchFamily="34" charset="0"/>
                <a:ea typeface="Calibri" pitchFamily="34" charset="-122"/>
                <a:cs typeface="Calibri" pitchFamily="34" charset="-120"/>
              </a:rPr>
              <a:t>Weaker on brand-new maps and agents</a:t>
            </a:r>
            <a:endParaRPr lang="en-US" sz="3000" dirty="0"/>
          </a:p>
        </p:txBody>
      </p:sp>
      <p:sp>
        <p:nvSpPr>
          <p:cNvPr id="7" name="Shape 5"/>
          <p:cNvSpPr/>
          <p:nvPr/>
        </p:nvSpPr>
        <p:spPr>
          <a:xfrm>
            <a:off x="6263640" y="1874520"/>
            <a:ext cx="5257800" cy="4297680"/>
          </a:xfrm>
          <a:prstGeom prst="roundRect">
            <a:avLst>
              <a:gd name="adj" fmla="val 1702"/>
            </a:avLst>
          </a:prstGeom>
          <a:solidFill>
            <a:srgbClr val="3A1720">
              <a:alpha val="88000"/>
            </a:srgbClr>
          </a:solidFill>
          <a:ln w="12700">
            <a:solidFill>
              <a:srgbClr val="FF4655">
                <a:alpha val="75000"/>
              </a:srgbClr>
            </a:solidFill>
            <a:prstDash val="solid"/>
          </a:ln>
        </p:spPr>
      </p:sp>
      <p:sp>
        <p:nvSpPr>
          <p:cNvPr id="8" name="Text 6"/>
          <p:cNvSpPr txBox="1"/>
          <p:nvPr/>
        </p:nvSpPr>
        <p:spPr>
          <a:xfrm>
            <a:off x="6519672" y="2075688"/>
            <a:ext cx="4745736" cy="292608"/>
          </a:xfrm>
          <a:prstGeom prst="rect">
            <a:avLst/>
          </a:prstGeom>
          <a:noFill/>
          <a:ln/>
        </p:spPr>
        <p:txBody>
          <a:bodyPr wrap="square" lIns="0" tIns="0" rIns="0" bIns="0" rtlCol="0" anchor="ctr"/>
          <a:lstStyle/>
          <a:p>
            <a:pPr indent="0" marL="0">
              <a:buNone/>
            </a:pPr>
            <a:r>
              <a:rPr lang="en-US" sz="1300" spc="100" kern="0" dirty="0">
                <a:solidFill>
                  <a:srgbClr val="FF4655"/>
                </a:solidFill>
                <a:latin typeface="Courier New" pitchFamily="34" charset="0"/>
                <a:ea typeface="Courier New" pitchFamily="34" charset="-122"/>
                <a:cs typeface="Courier New" pitchFamily="34" charset="-120"/>
              </a:rPr>
              <a:t>NEXT</a:t>
            </a:r>
            <a:endParaRPr lang="en-US" sz="1300" dirty="0"/>
          </a:p>
        </p:txBody>
      </p:sp>
      <p:sp>
        <p:nvSpPr>
          <p:cNvPr id="9" name="Text 7"/>
          <p:cNvSpPr txBox="1"/>
          <p:nvPr/>
        </p:nvSpPr>
        <p:spPr>
          <a:xfrm>
            <a:off x="6519672" y="2478024"/>
            <a:ext cx="4745736" cy="3474720"/>
          </a:xfrm>
          <a:prstGeom prst="rect">
            <a:avLst/>
          </a:prstGeom>
          <a:noFill/>
          <a:ln/>
        </p:spPr>
        <p:txBody>
          <a:bodyPr wrap="square" lIns="0" tIns="0" rIns="0" bIns="0" rtlCol="0" anchor="t"/>
          <a:lstStyle/>
          <a:p>
            <a:pPr marL="342900" indent="-342900">
              <a:spcAft>
                <a:spcPts val="1500"/>
              </a:spcAft>
              <a:buSzPct val="100000"/>
              <a:buChar char="•"/>
            </a:pPr>
            <a:r>
              <a:rPr lang="en-US" sz="3000" dirty="0">
                <a:solidFill>
                  <a:srgbClr val="ECE8E1"/>
                </a:solidFill>
                <a:latin typeface="Calibri" pitchFamily="34" charset="0"/>
                <a:ea typeface="Calibri" pitchFamily="34" charset="-122"/>
                <a:cs typeface="Calibri" pitchFamily="34" charset="-120"/>
              </a:rPr>
              <a:t>Keep it updated with new pro games</a:t>
            </a:r>
            <a:endParaRPr lang="en-US" sz="3000" dirty="0"/>
          </a:p>
          <a:p>
            <a:pPr marL="342900" indent="-342900">
              <a:spcAft>
                <a:spcPts val="1500"/>
              </a:spcAft>
              <a:buSzPct val="100000"/>
              <a:buChar char="•"/>
            </a:pPr>
            <a:r>
              <a:rPr lang="en-US" sz="3000" dirty="0">
                <a:solidFill>
                  <a:srgbClr val="ECE8E1"/>
                </a:solidFill>
                <a:latin typeface="Calibri" pitchFamily="34" charset="0"/>
                <a:ea typeface="Calibri" pitchFamily="34" charset="-122"/>
                <a:cs typeface="Calibri" pitchFamily="34" charset="-120"/>
              </a:rPr>
              <a:t>Test it on ranked games</a:t>
            </a:r>
            <a:endParaRPr lang="en-US" sz="3000" dirty="0"/>
          </a:p>
          <a:p>
            <a:pPr marL="342900" indent="-342900">
              <a:spcAft>
                <a:spcPts val="1500"/>
              </a:spcAft>
              <a:buSzPct val="100000"/>
              <a:buChar char="•"/>
            </a:pPr>
            <a:r>
              <a:rPr lang="en-US" sz="3000" dirty="0">
                <a:solidFill>
                  <a:srgbClr val="ECE8E1"/>
                </a:solidFill>
                <a:latin typeface="Calibri" pitchFamily="34" charset="0"/>
                <a:ea typeface="Calibri" pitchFamily="34" charset="-122"/>
                <a:cs typeface="Calibri" pitchFamily="34" charset="-120"/>
              </a:rPr>
              <a:t>An LLM in the app that suggests tactics for the chosen map and agents</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41248"/>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Conclusion</a:t>
            </a:r>
            <a:endParaRPr lang="en-US" sz="3400" dirty="0"/>
          </a:p>
        </p:txBody>
      </p:sp>
      <p:sp>
        <p:nvSpPr>
          <p:cNvPr id="3" name="Shape 1"/>
          <p:cNvSpPr/>
          <p:nvPr/>
        </p:nvSpPr>
        <p:spPr>
          <a:xfrm>
            <a:off x="640080" y="1627632"/>
            <a:ext cx="10881360" cy="32004"/>
          </a:xfrm>
          <a:prstGeom prst="rect">
            <a:avLst/>
          </a:prstGeom>
          <a:solidFill>
            <a:srgbClr val="FF4655"/>
          </a:solidFill>
          <a:ln w="12700">
            <a:solidFill>
              <a:srgbClr val="333333"/>
            </a:solidFill>
            <a:prstDash val="solid"/>
          </a:ln>
        </p:spPr>
      </p:sp>
      <p:pic>
        <p:nvPicPr>
          <p:cNvPr id="4" name="Image 0" descr="Viper">    </p:cNvPr>
          <p:cNvPicPr>
            <a:picLocks noChangeAspect="1"/>
          </p:cNvPicPr>
          <p:nvPr/>
        </p:nvPicPr>
        <p:blipFill>
          <a:blip r:embed="rId2"/>
          <a:stretch>
            <a:fillRect/>
          </a:stretch>
        </p:blipFill>
        <p:spPr>
          <a:xfrm>
            <a:off x="8183880" y="3017520"/>
            <a:ext cx="640080" cy="640080"/>
          </a:xfrm>
          <a:prstGeom prst="rect">
            <a:avLst/>
          </a:prstGeom>
        </p:spPr>
      </p:pic>
      <p:pic>
        <p:nvPicPr>
          <p:cNvPr id="5" name="Image 1" descr="Sova">    </p:cNvPr>
          <p:cNvPicPr>
            <a:picLocks noChangeAspect="1"/>
          </p:cNvPicPr>
          <p:nvPr/>
        </p:nvPicPr>
        <p:blipFill>
          <a:blip r:embed="rId3"/>
          <a:stretch>
            <a:fillRect/>
          </a:stretch>
        </p:blipFill>
        <p:spPr>
          <a:xfrm>
            <a:off x="8915400" y="3017520"/>
            <a:ext cx="640080" cy="640080"/>
          </a:xfrm>
          <a:prstGeom prst="rect">
            <a:avLst/>
          </a:prstGeom>
        </p:spPr>
      </p:pic>
      <p:pic>
        <p:nvPicPr>
          <p:cNvPr id="6" name="Image 2" descr="Killjoy">    </p:cNvPr>
          <p:cNvPicPr>
            <a:picLocks noChangeAspect="1"/>
          </p:cNvPicPr>
          <p:nvPr/>
        </p:nvPicPr>
        <p:blipFill>
          <a:blip r:embed="rId4"/>
          <a:stretch>
            <a:fillRect/>
          </a:stretch>
        </p:blipFill>
        <p:spPr>
          <a:xfrm>
            <a:off x="9646920" y="3017520"/>
            <a:ext cx="640080" cy="640080"/>
          </a:xfrm>
          <a:prstGeom prst="rect">
            <a:avLst/>
          </a:prstGeom>
        </p:spPr>
      </p:pic>
      <p:pic>
        <p:nvPicPr>
          <p:cNvPr id="7" name="Image 3" descr="Jett">    </p:cNvPr>
          <p:cNvPicPr>
            <a:picLocks noChangeAspect="1"/>
          </p:cNvPicPr>
          <p:nvPr/>
        </p:nvPicPr>
        <p:blipFill>
          <a:blip r:embed="rId5"/>
          <a:stretch>
            <a:fillRect/>
          </a:stretch>
        </p:blipFill>
        <p:spPr>
          <a:xfrm>
            <a:off x="10378440" y="3017520"/>
            <a:ext cx="640080" cy="640080"/>
          </a:xfrm>
          <a:prstGeom prst="rect">
            <a:avLst/>
          </a:prstGeom>
        </p:spPr>
      </p:pic>
      <p:sp>
        <p:nvSpPr>
          <p:cNvPr id="8" name="Shape 2"/>
          <p:cNvSpPr/>
          <p:nvPr/>
        </p:nvSpPr>
        <p:spPr>
          <a:xfrm>
            <a:off x="11109960" y="3017520"/>
            <a:ext cx="640080" cy="640080"/>
          </a:xfrm>
          <a:prstGeom prst="roundRect">
            <a:avLst>
              <a:gd name="adj" fmla="val 14286"/>
            </a:avLst>
          </a:prstGeom>
          <a:solidFill>
            <a:srgbClr val="0F1923">
              <a:alpha val="70000"/>
            </a:srgbClr>
          </a:solidFill>
          <a:ln w="19050">
            <a:solidFill>
              <a:srgbClr val="FF4655"/>
            </a:solidFill>
            <a:prstDash val="dash"/>
          </a:ln>
        </p:spPr>
      </p:sp>
      <p:sp>
        <p:nvSpPr>
          <p:cNvPr id="9" name="Text 3"/>
          <p:cNvSpPr txBox="1"/>
          <p:nvPr/>
        </p:nvSpPr>
        <p:spPr>
          <a:xfrm>
            <a:off x="11109960" y="3017520"/>
            <a:ext cx="640080" cy="640080"/>
          </a:xfrm>
          <a:prstGeom prst="rect">
            <a:avLst/>
          </a:prstGeom>
          <a:noFill/>
          <a:ln/>
        </p:spPr>
        <p:txBody>
          <a:bodyPr wrap="square" lIns="0" tIns="0" rIns="0" bIns="0" rtlCol="0" anchor="ctr"/>
          <a:lstStyle/>
          <a:p>
            <a:pPr algn="ctr" indent="0" marL="0">
              <a:buNone/>
            </a:pPr>
            <a:r>
              <a:rPr lang="en-US" sz="1800" b="1" dirty="0">
                <a:solidFill>
                  <a:srgbClr val="FF4655"/>
                </a:solidFill>
                <a:latin typeface="Arial" pitchFamily="34" charset="0"/>
                <a:ea typeface="Arial" pitchFamily="34" charset="-122"/>
                <a:cs typeface="Arial" pitchFamily="34" charset="-120"/>
              </a:rPr>
              <a:t>?</a:t>
            </a:r>
            <a:endParaRPr lang="en-US" sz="1800" dirty="0"/>
          </a:p>
        </p:txBody>
      </p:sp>
      <p:sp>
        <p:nvSpPr>
          <p:cNvPr id="10" name="Text 4"/>
          <p:cNvSpPr txBox="1"/>
          <p:nvPr/>
        </p:nvSpPr>
        <p:spPr>
          <a:xfrm>
            <a:off x="640080" y="2286000"/>
            <a:ext cx="7223760" cy="21945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With four agents locked in, the pros' pick is in its top three nearly nine times in ten, even on a new season.</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691640"/>
            <a:ext cx="402336" cy="402336"/>
          </a:xfrm>
          <a:prstGeom prst="ellipse">
            <a:avLst/>
          </a:prstGeom>
          <a:solidFill>
            <a:srgbClr val="FF4655"/>
          </a:solidFill>
          <a:ln w="12700">
            <a:solidFill>
              <a:srgbClr val="FF4655"/>
            </a:solidFill>
            <a:prstDash val="solid"/>
          </a:ln>
        </p:spPr>
      </p:sp>
      <p:sp>
        <p:nvSpPr>
          <p:cNvPr id="3" name="Text 1"/>
          <p:cNvSpPr txBox="1"/>
          <p:nvPr/>
        </p:nvSpPr>
        <p:spPr>
          <a:xfrm>
            <a:off x="640080" y="2377440"/>
            <a:ext cx="7498080" cy="1097280"/>
          </a:xfrm>
          <a:prstGeom prst="rect">
            <a:avLst/>
          </a:prstGeom>
          <a:noFill/>
          <a:ln/>
        </p:spPr>
        <p:txBody>
          <a:bodyPr wrap="square" lIns="0" tIns="0" rIns="0" bIns="0" rtlCol="0" anchor="ctr"/>
          <a:lstStyle/>
          <a:p>
            <a:pPr indent="0" marL="0">
              <a:buNone/>
            </a:pPr>
            <a:r>
              <a:rPr lang="en-US" sz="5600" b="1" dirty="0">
                <a:solidFill>
                  <a:srgbClr val="FFFFFF"/>
                </a:solidFill>
                <a:latin typeface="Arial" pitchFamily="34" charset="0"/>
                <a:ea typeface="Arial" pitchFamily="34" charset="-122"/>
                <a:cs typeface="Arial" pitchFamily="34" charset="-120"/>
              </a:rPr>
              <a:t>Thanks for listening</a:t>
            </a:r>
            <a:endParaRPr lang="en-US" sz="5600" dirty="0"/>
          </a:p>
        </p:txBody>
      </p:sp>
      <p:sp>
        <p:nvSpPr>
          <p:cNvPr id="4" name="Text 2"/>
          <p:cNvSpPr txBox="1"/>
          <p:nvPr/>
        </p:nvSpPr>
        <p:spPr>
          <a:xfrm>
            <a:off x="640080" y="3566160"/>
            <a:ext cx="7498080" cy="731520"/>
          </a:xfrm>
          <a:prstGeom prst="rect">
            <a:avLst/>
          </a:prstGeom>
          <a:noFill/>
          <a:ln/>
        </p:spPr>
        <p:txBody>
          <a:bodyPr wrap="square" lIns="0" tIns="0" rIns="0" bIns="0" rtlCol="0" anchor="ctr"/>
          <a:lstStyle/>
          <a:p>
            <a:pPr indent="0" marL="0">
              <a:buNone/>
            </a:pPr>
            <a:r>
              <a:rPr lang="en-US" sz="3200" dirty="0">
                <a:solidFill>
                  <a:srgbClr val="FF4655"/>
                </a:solidFill>
                <a:latin typeface="Arial" pitchFamily="34" charset="0"/>
                <a:ea typeface="Arial" pitchFamily="34" charset="-122"/>
                <a:cs typeface="Arial" pitchFamily="34" charset="-120"/>
              </a:rPr>
              <a:t>Any questions?</a:t>
            </a:r>
            <a:endParaRPr lang="en-US" sz="3200" dirty="0"/>
          </a:p>
        </p:txBody>
      </p:sp>
      <p:sp>
        <p:nvSpPr>
          <p:cNvPr id="5" name="Text 3"/>
          <p:cNvSpPr txBox="1"/>
          <p:nvPr/>
        </p:nvSpPr>
        <p:spPr>
          <a:xfrm>
            <a:off x="640080" y="5440680"/>
            <a:ext cx="7315200" cy="365760"/>
          </a:xfrm>
          <a:prstGeom prst="rect">
            <a:avLst/>
          </a:prstGeom>
          <a:noFill/>
          <a:ln/>
        </p:spPr>
        <p:txBody>
          <a:bodyPr wrap="square" lIns="0" tIns="0" rIns="0" bIns="0" rtlCol="0" anchor="ctr"/>
          <a:lstStyle/>
          <a:p>
            <a:pPr indent="0" marL="0">
              <a:buNone/>
            </a:pPr>
            <a:r>
              <a:rPr lang="en-US" sz="1400" spc="100" kern="0" dirty="0">
                <a:solidFill>
                  <a:srgbClr val="B4BDC6"/>
                </a:solidFill>
                <a:latin typeface="Courier New" pitchFamily="34" charset="0"/>
                <a:ea typeface="Courier New" pitchFamily="34" charset="-122"/>
                <a:cs typeface="Courier New" pitchFamily="34" charset="-120"/>
              </a:rPr>
              <a:t>Harun Tontus</a:t>
            </a:r>
            <a:endParaRPr lang="en-US" sz="1400" dirty="0"/>
          </a:p>
        </p:txBody>
      </p:sp>
      <p:sp>
        <p:nvSpPr>
          <p:cNvPr id="6" name="Text 4"/>
          <p:cNvSpPr txBox="1"/>
          <p:nvPr/>
        </p:nvSpPr>
        <p:spPr>
          <a:xfrm>
            <a:off x="640080" y="5943600"/>
            <a:ext cx="7315200" cy="457200"/>
          </a:xfrm>
          <a:prstGeom prst="rect">
            <a:avLst/>
          </a:prstGeom>
          <a:noFill/>
          <a:ln/>
        </p:spPr>
        <p:txBody>
          <a:bodyPr wrap="square" lIns="0" tIns="0" rIns="0" bIns="0" rtlCol="0" anchor="ctr"/>
          <a:lstStyle/>
          <a:p>
            <a:pPr indent="0" marL="0">
              <a:buNone/>
            </a:pPr>
            <a:r>
              <a:rPr lang="en-US" sz="1200" dirty="0">
                <a:solidFill>
                  <a:srgbClr val="8A949E"/>
                </a:solidFill>
                <a:latin typeface="Calibri" pitchFamily="34" charset="0"/>
                <a:ea typeface="Calibri" pitchFamily="34" charset="-122"/>
                <a:cs typeface="Calibri" pitchFamily="34" charset="-120"/>
              </a:rPr>
              <a:t>Made under Riot Games' "Legal Jibber Jabber" policy using assets owned by Riot Games. Riot Games does not endorse or sponsor this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 Data: what would the pros pick?</dc:title>
  <dc:subject>PptxGenJS Presentation</dc:subject>
  <dc:creator>Harun Tontus</dc:creator>
  <cp:lastModifiedBy>Harun Tontus</cp:lastModifiedBy>
  <cp:revision>1</cp:revision>
  <dcterms:created xsi:type="dcterms:W3CDTF">2026-10-02T18:07:40Z</dcterms:created>
  <dcterms:modified xsi:type="dcterms:W3CDTF">2026-10-02T18:07:40Z</dcterms:modified>
</cp:coreProperties>
</file>